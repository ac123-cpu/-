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8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80" r:id="rId2"/>
    <p:sldId id="261" r:id="rId3"/>
    <p:sldId id="367" r:id="rId4"/>
    <p:sldId id="372" r:id="rId5"/>
    <p:sldId id="258" r:id="rId6"/>
    <p:sldId id="386" r:id="rId7"/>
    <p:sldId id="382" r:id="rId8"/>
    <p:sldId id="396" r:id="rId9"/>
    <p:sldId id="392" r:id="rId10"/>
    <p:sldId id="322" r:id="rId11"/>
    <p:sldId id="275" r:id="rId12"/>
    <p:sldId id="365" r:id="rId13"/>
    <p:sldId id="394" r:id="rId14"/>
    <p:sldId id="292" r:id="rId15"/>
    <p:sldId id="395" r:id="rId16"/>
    <p:sldId id="259" r:id="rId17"/>
    <p:sldId id="397" r:id="rId18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pos="600" userDrawn="1">
          <p15:clr>
            <a:srgbClr val="A4A3A4"/>
          </p15:clr>
        </p15:guide>
        <p15:guide id="5" pos="7296" userDrawn="1">
          <p15:clr>
            <a:srgbClr val="A4A3A4"/>
          </p15:clr>
        </p15:guide>
        <p15:guide id="6" pos="7080" userDrawn="1">
          <p15:clr>
            <a:srgbClr val="A4A3A4"/>
          </p15:clr>
        </p15:guide>
        <p15:guide id="7" orient="horz" pos="912" userDrawn="1">
          <p15:clr>
            <a:srgbClr val="A4A3A4"/>
          </p15:clr>
        </p15:guide>
        <p15:guide id="8" orient="horz" pos="3888" userDrawn="1">
          <p15:clr>
            <a:srgbClr val="A4A3A4"/>
          </p15:clr>
        </p15:guide>
        <p15:guide id="9" orient="horz" pos="1272" userDrawn="1">
          <p15:clr>
            <a:srgbClr val="A4A3A4"/>
          </p15:clr>
        </p15:guide>
        <p15:guide id="15" pos="6984" userDrawn="1">
          <p15:clr>
            <a:srgbClr val="A4A3A4"/>
          </p15:clr>
        </p15:guide>
        <p15:guide id="16" orient="horz" pos="19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3636"/>
    <a:srgbClr val="7F2E30"/>
    <a:srgbClr val="FFFFFF"/>
    <a:srgbClr val="3A211D"/>
    <a:srgbClr val="B44245"/>
    <a:srgbClr val="D79193"/>
    <a:srgbClr val="C76769"/>
    <a:srgbClr val="502F20"/>
    <a:srgbClr val="3C3C3C"/>
    <a:srgbClr val="F3E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47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222" y="48"/>
      </p:cViewPr>
      <p:guideLst>
        <p:guide orient="horz" pos="2160"/>
        <p:guide pos="3840"/>
        <p:guide pos="384"/>
        <p:guide pos="600"/>
        <p:guide pos="7296"/>
        <p:guide pos="7080"/>
        <p:guide orient="horz" pos="912"/>
        <p:guide orient="horz" pos="3888"/>
        <p:guide orient="horz" pos="1272"/>
        <p:guide pos="6984"/>
        <p:guide orient="horz" pos="19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9B7B9-572E-4765-8917-F290920783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E3090-19BA-4BF2-BD34-BAA68E139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1T07:37:2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4BA81-6A69-41D6-AE52-62521AF76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73A4F-3A00-45DA-888B-C117A9825B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786759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4035973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285187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8534401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786759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4035973" y="2365265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s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935725" y="4058717"/>
            <a:ext cx="22860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 #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1" hasCustomPrompt="1"/>
          </p:nvPr>
        </p:nvSpPr>
        <p:spPr>
          <a:xfrm>
            <a:off x="3613908" y="4058717"/>
            <a:ext cx="22860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 #</a:t>
            </a:r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2" hasCustomPrompt="1"/>
          </p:nvPr>
        </p:nvSpPr>
        <p:spPr>
          <a:xfrm>
            <a:off x="6292091" y="4058717"/>
            <a:ext cx="22860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 #</a:t>
            </a:r>
          </a:p>
        </p:txBody>
      </p:sp>
      <p:sp>
        <p:nvSpPr>
          <p:cNvPr id="16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8970274" y="4058717"/>
            <a:ext cx="22860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 #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 rot="434797">
            <a:off x="1198267" y="2019299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 hasCustomPrompt="1"/>
          </p:nvPr>
        </p:nvSpPr>
        <p:spPr>
          <a:xfrm rot="434797">
            <a:off x="6414869" y="2030510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 hasCustomPrompt="1"/>
          </p:nvPr>
        </p:nvSpPr>
        <p:spPr>
          <a:xfrm rot="434797">
            <a:off x="1195986" y="4329978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>
          <a:xfrm rot="434797">
            <a:off x="6421733" y="4345750"/>
            <a:ext cx="18288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875808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2693976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4512144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330312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9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8148480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9886750" y="2370939"/>
            <a:ext cx="1408176" cy="140817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1065287" y="2359541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153445" y="3433428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5241603" y="2359541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7325828" y="3433428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9413986" y="2359541"/>
            <a:ext cx="1728216" cy="1728216"/>
          </a:xfrm>
          <a:prstGeom prst="foldedCorner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953865" y="566478"/>
            <a:ext cx="1399032" cy="1399032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6629400" y="-1"/>
            <a:ext cx="5562600" cy="25305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Work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219700" y="669472"/>
            <a:ext cx="877824" cy="87782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955330" y="2019300"/>
            <a:ext cx="1243584" cy="124358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7260533" y="2988127"/>
            <a:ext cx="1179576" cy="117957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6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2586011" y="3565323"/>
            <a:ext cx="1746504" cy="17465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Team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19062" y="104774"/>
            <a:ext cx="6702425" cy="664686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884935" y="104774"/>
            <a:ext cx="2560321" cy="329286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509047" y="3460366"/>
            <a:ext cx="2560321" cy="329286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12257" y="2019299"/>
            <a:ext cx="3927475" cy="2043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4604821" y="2019299"/>
            <a:ext cx="3927475" cy="2043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11885" y="4124323"/>
            <a:ext cx="3927475" cy="2043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604634" y="4124324"/>
            <a:ext cx="3927475" cy="20431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597383" y="2019299"/>
            <a:ext cx="2644775" cy="414813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573151" y="1775893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7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3352864" y="1775893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8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6130925" y="1775893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9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8910701" y="1775893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0" name="Picture Placeholder 15"/>
          <p:cNvSpPr>
            <a:spLocks noGrp="1"/>
          </p:cNvSpPr>
          <p:nvPr>
            <p:ph type="pic" sz="quarter" idx="14" hasCustomPrompt="1"/>
          </p:nvPr>
        </p:nvSpPr>
        <p:spPr>
          <a:xfrm>
            <a:off x="573151" y="3816434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1" name="Picture Placeholder 15"/>
          <p:cNvSpPr>
            <a:spLocks noGrp="1"/>
          </p:cNvSpPr>
          <p:nvPr>
            <p:ph type="pic" sz="quarter" idx="15" hasCustomPrompt="1"/>
          </p:nvPr>
        </p:nvSpPr>
        <p:spPr>
          <a:xfrm>
            <a:off x="3352864" y="3816434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2" name="Picture Placeholder 15"/>
          <p:cNvSpPr>
            <a:spLocks noGrp="1"/>
          </p:cNvSpPr>
          <p:nvPr>
            <p:ph type="pic" sz="quarter" idx="16" hasCustomPrompt="1"/>
          </p:nvPr>
        </p:nvSpPr>
        <p:spPr>
          <a:xfrm>
            <a:off x="6130925" y="3816434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3" name="Picture Placeholder 15"/>
          <p:cNvSpPr>
            <a:spLocks noGrp="1"/>
          </p:cNvSpPr>
          <p:nvPr>
            <p:ph type="pic" sz="quarter" idx="17" hasCustomPrompt="1"/>
          </p:nvPr>
        </p:nvSpPr>
        <p:spPr>
          <a:xfrm>
            <a:off x="8908986" y="3816434"/>
            <a:ext cx="2706624" cy="198424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 hasCustomPrompt="1"/>
          </p:nvPr>
        </p:nvSpPr>
        <p:spPr>
          <a:xfrm>
            <a:off x="3781424" y="-1"/>
            <a:ext cx="2752725" cy="33385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6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9477375" y="1509713"/>
            <a:ext cx="2714625" cy="37480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7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931862" y="1509713"/>
            <a:ext cx="2754312" cy="37480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8" name="Picture Placeholder 14"/>
          <p:cNvSpPr>
            <a:spLocks noGrp="1"/>
          </p:cNvSpPr>
          <p:nvPr>
            <p:ph type="pic" sz="quarter" idx="13" hasCustomPrompt="1"/>
          </p:nvPr>
        </p:nvSpPr>
        <p:spPr>
          <a:xfrm>
            <a:off x="6629401" y="1509713"/>
            <a:ext cx="2754312" cy="182879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9" name="Picture Placeholder 14"/>
          <p:cNvSpPr>
            <a:spLocks noGrp="1"/>
          </p:cNvSpPr>
          <p:nvPr>
            <p:ph type="pic" sz="quarter" idx="14" hasCustomPrompt="1"/>
          </p:nvPr>
        </p:nvSpPr>
        <p:spPr>
          <a:xfrm>
            <a:off x="6629401" y="3428999"/>
            <a:ext cx="2754312" cy="182879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20" name="Picture Placeholder 14"/>
          <p:cNvSpPr>
            <a:spLocks noGrp="1"/>
          </p:cNvSpPr>
          <p:nvPr>
            <p:ph type="pic" sz="quarter" idx="15" hasCustomPrompt="1"/>
          </p:nvPr>
        </p:nvSpPr>
        <p:spPr>
          <a:xfrm>
            <a:off x="3779836" y="3428999"/>
            <a:ext cx="2754312" cy="182879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-217198" y="2624081"/>
            <a:ext cx="1746504" cy="1243584"/>
          </a:xfrm>
          <a:prstGeom prst="roundRect">
            <a:avLst>
              <a:gd name="adj" fmla="val 6163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10661691" y="2624081"/>
            <a:ext cx="1746504" cy="1243584"/>
          </a:xfrm>
          <a:prstGeom prst="roundRect">
            <a:avLst>
              <a:gd name="adj" fmla="val 6163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1680975" y="2149558"/>
            <a:ext cx="2840900" cy="2019300"/>
          </a:xfrm>
          <a:prstGeom prst="roundRect">
            <a:avLst>
              <a:gd name="adj" fmla="val 5624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75550" y="2149558"/>
            <a:ext cx="2840900" cy="2019300"/>
          </a:xfrm>
          <a:prstGeom prst="roundRect">
            <a:avLst>
              <a:gd name="adj" fmla="val 5624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669122" y="2149558"/>
            <a:ext cx="2840900" cy="2019300"/>
          </a:xfrm>
          <a:prstGeom prst="roundRect">
            <a:avLst>
              <a:gd name="adj" fmla="val 5624"/>
            </a:avLst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009136"/>
            <a:ext cx="6096000" cy="41562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2009136"/>
            <a:ext cx="2324100" cy="23274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420100" y="2009136"/>
            <a:ext cx="3771900" cy="23274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Image #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341836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#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3338622" y="3418366"/>
            <a:ext cx="2386123" cy="152577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#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6667499" y="3418366"/>
            <a:ext cx="2386123" cy="152577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Portfolio #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043">
        <p15:prstTrans prst="pageCurlDouble"/>
      </p:transition>
    </mc:Choice>
    <mc:Fallback xmlns="">
      <p:transition spd="slow" advTm="4043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customXml" Target="../ink/ink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780553" y="2158742"/>
            <a:ext cx="7400925" cy="175323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7F2E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扫地机器人                 </a:t>
            </a:r>
            <a:endParaRPr lang="en-US" altLang="zh-CN" sz="5400" dirty="0">
              <a:solidFill>
                <a:srgbClr val="7F2E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5400" dirty="0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48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清扫策略分析</a:t>
            </a:r>
            <a:endParaRPr lang="zh-CN" altLang="en-US" sz="54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55351" y="3316523"/>
            <a:ext cx="1018227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————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Kozuka Gothic Pro EL" panose="020B0200000000000000" pitchFamily="34" charset="-128"/>
              <a:ea typeface="Kozuka Gothic Pro EL" panose="020B0200000000000000" pitchFamily="34" charset="-128"/>
              <a:cs typeface="Segoe UI Semilight" panose="020B0402040204020203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53953" y="5457872"/>
            <a:ext cx="628409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回答者</a:t>
            </a:r>
            <a:r>
              <a:rPr lang="zh-CN" altLang="en-US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：李婧娴</a:t>
            </a:r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2507010202 &amp;&amp; 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演讲者：刘思彤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2507010203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/>
              <p14:cNvContentPartPr/>
              <p14:nvPr/>
            </p14:nvContentPartPr>
            <p14:xfrm>
              <a:off x="6063821" y="2713036"/>
              <a:ext cx="360" cy="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6"/>
            </p:blipFill>
            <p:spPr>
              <a:xfrm>
                <a:off x="6063821" y="2713036"/>
                <a:ext cx="360" cy="360"/>
              </a:xfrm>
              <a:prstGeom prst="rect"/>
            </p:spPr>
          </p:pic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35" name="Title 1"/>
          <p:cNvSpPr txBox="1"/>
          <p:nvPr/>
        </p:nvSpPr>
        <p:spPr>
          <a:xfrm>
            <a:off x="4584699" y="295001"/>
            <a:ext cx="30226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3200" b="1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前言</a:t>
            </a:r>
            <a:endParaRPr lang="en-GB" altLang="zh-CN" sz="3200" b="1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8" name="Oval 22"/>
          <p:cNvSpPr>
            <a:spLocks noChangeArrowheads="1"/>
          </p:cNvSpPr>
          <p:nvPr/>
        </p:nvSpPr>
        <p:spPr bwMode="auto">
          <a:xfrm>
            <a:off x="1674284" y="5154770"/>
            <a:ext cx="471056" cy="471056"/>
          </a:xfrm>
          <a:prstGeom prst="ellipse">
            <a:avLst/>
          </a:prstGeom>
          <a:solidFill>
            <a:srgbClr val="363636"/>
          </a:solidFill>
          <a:ln>
            <a:noFill/>
          </a:ln>
        </p:spPr>
        <p:txBody>
          <a:bodyPr anchor="ctr"/>
          <a:lstStyle/>
          <a:p>
            <a:pPr algn="ctr" eaLnBrk="1" hangingPunct="1"/>
            <a:endParaRPr lang="en-AU" altLang="en-US" sz="1600">
              <a:solidFill>
                <a:srgbClr val="FFFFFF"/>
              </a:solidFill>
              <a:latin typeface="FontAwesome"/>
            </a:endParaRPr>
          </a:p>
        </p:txBody>
      </p:sp>
      <p:sp>
        <p:nvSpPr>
          <p:cNvPr id="49" name="Oval 33"/>
          <p:cNvSpPr>
            <a:spLocks noChangeArrowheads="1"/>
          </p:cNvSpPr>
          <p:nvPr/>
        </p:nvSpPr>
        <p:spPr bwMode="auto">
          <a:xfrm>
            <a:off x="5147535" y="5149292"/>
            <a:ext cx="471056" cy="471056"/>
          </a:xfrm>
          <a:prstGeom prst="ellipse">
            <a:avLst/>
          </a:prstGeom>
          <a:solidFill>
            <a:srgbClr val="363636"/>
          </a:solidFill>
          <a:ln>
            <a:noFill/>
          </a:ln>
        </p:spPr>
        <p:txBody>
          <a:bodyPr anchor="ctr"/>
          <a:lstStyle/>
          <a:p>
            <a:pPr algn="ctr" eaLnBrk="1" hangingPunct="1"/>
            <a:endParaRPr lang="en-US" altLang="zh-CN" sz="1600">
              <a:solidFill>
                <a:srgbClr val="FFFFFF"/>
              </a:solidFill>
            </a:endParaRPr>
          </a:p>
        </p:txBody>
      </p:sp>
      <p:sp>
        <p:nvSpPr>
          <p:cNvPr id="50" name="Oval 36"/>
          <p:cNvSpPr>
            <a:spLocks noChangeArrowheads="1"/>
          </p:cNvSpPr>
          <p:nvPr/>
        </p:nvSpPr>
        <p:spPr bwMode="auto">
          <a:xfrm>
            <a:off x="8406698" y="5157098"/>
            <a:ext cx="471056" cy="471056"/>
          </a:xfrm>
          <a:prstGeom prst="ellipse">
            <a:avLst/>
          </a:prstGeom>
          <a:solidFill>
            <a:srgbClr val="363636"/>
          </a:solidFill>
          <a:ln>
            <a:noFill/>
          </a:ln>
        </p:spPr>
        <p:txBody>
          <a:bodyPr anchor="ctr"/>
          <a:lstStyle/>
          <a:p>
            <a:pPr algn="ctr" eaLnBrk="1" hangingPunct="1"/>
            <a:endParaRPr lang="en-US" altLang="zh-CN" sz="1600">
              <a:solidFill>
                <a:srgbClr val="FFFFFF"/>
              </a:solidFill>
              <a:latin typeface="FontAwesome"/>
            </a:endParaRPr>
          </a:p>
        </p:txBody>
      </p:sp>
      <p:sp>
        <p:nvSpPr>
          <p:cNvPr id="51" name="TextBox 15"/>
          <p:cNvSpPr txBox="1">
            <a:spLocks noChangeArrowheads="1"/>
          </p:cNvSpPr>
          <p:nvPr/>
        </p:nvSpPr>
        <p:spPr bwMode="auto">
          <a:xfrm>
            <a:off x="1603110" y="5227036"/>
            <a:ext cx="6134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Gill Sans"/>
              </a:rPr>
              <a:t>Q1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Gill Sans"/>
            </a:endParaRPr>
          </a:p>
        </p:txBody>
      </p:sp>
      <p:sp>
        <p:nvSpPr>
          <p:cNvPr id="52" name="TextBox 15"/>
          <p:cNvSpPr txBox="1">
            <a:spLocks noChangeArrowheads="1"/>
          </p:cNvSpPr>
          <p:nvPr/>
        </p:nvSpPr>
        <p:spPr bwMode="auto">
          <a:xfrm>
            <a:off x="5094566" y="5223349"/>
            <a:ext cx="56989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Gill Sans"/>
              </a:rPr>
              <a:t>Q2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Gill Sans"/>
            </a:endParaRPr>
          </a:p>
        </p:txBody>
      </p:sp>
      <p:sp>
        <p:nvSpPr>
          <p:cNvPr id="53" name="TextBox 15"/>
          <p:cNvSpPr txBox="1">
            <a:spLocks noChangeArrowheads="1"/>
          </p:cNvSpPr>
          <p:nvPr/>
        </p:nvSpPr>
        <p:spPr bwMode="auto">
          <a:xfrm>
            <a:off x="8365221" y="5223349"/>
            <a:ext cx="55401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Gill Sans"/>
              </a:rPr>
              <a:t>Q3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Gill Sans"/>
            </a:endParaRPr>
          </a:p>
        </p:txBody>
      </p:sp>
      <p:sp>
        <p:nvSpPr>
          <p:cNvPr id="58" name="文本框 57"/>
          <p:cNvSpPr txBox="1">
            <a:spLocks noChangeAspect="1"/>
          </p:cNvSpPr>
          <p:nvPr/>
        </p:nvSpPr>
        <p:spPr>
          <a:xfrm>
            <a:off x="2126778" y="5166489"/>
            <a:ext cx="1719564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fontAlgn="ctr"/>
            <a:r>
              <a:rPr lang="zh-CN" altLang="en-US" sz="1400" noProof="1">
                <a:latin typeface="Arial" panose="020B0604020202020204" pitchFamily="34" charset="0"/>
                <a:ea typeface="黑体" panose="02010609060101010101" charset="-122"/>
              </a:rPr>
              <a:t>清扫路线混乱，清扫不完全，不彻底</a:t>
            </a:r>
            <a:endParaRPr lang="en-US" altLang="zh-CN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2680633" y="5095185"/>
            <a:ext cx="276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>
            <a:spLocks noChangeAspect="1"/>
          </p:cNvSpPr>
          <p:nvPr/>
        </p:nvSpPr>
        <p:spPr>
          <a:xfrm>
            <a:off x="5711679" y="5180606"/>
            <a:ext cx="1528762" cy="73866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fontAlgn="ctr"/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无法区分障碍物和墙，电线缠绕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</a:endParaRPr>
          </a:p>
          <a:p>
            <a:pPr algn="ctr" fontAlgn="ctr"/>
            <a:r>
              <a:rPr lang="en-US" altLang="zh-CN" sz="1400" noProof="1">
                <a:latin typeface="Arial" panose="020B0604020202020204" pitchFamily="34" charset="0"/>
                <a:ea typeface="黑体" panose="02010609060101010101" charset="-122"/>
              </a:rPr>
              <a:t> </a:t>
            </a:r>
          </a:p>
        </p:txBody>
      </p:sp>
      <p:cxnSp>
        <p:nvCxnSpPr>
          <p:cNvPr id="62" name="直接连接符 61"/>
          <p:cNvCxnSpPr/>
          <p:nvPr/>
        </p:nvCxnSpPr>
        <p:spPr>
          <a:xfrm>
            <a:off x="6327315" y="5095185"/>
            <a:ext cx="276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>
            <a:spLocks noChangeAspect="1"/>
          </p:cNvSpPr>
          <p:nvPr/>
        </p:nvSpPr>
        <p:spPr>
          <a:xfrm>
            <a:off x="8902271" y="5180605"/>
            <a:ext cx="1528762" cy="73866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 fontAlgn="ctr"/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不平整路况，如楼梯口处避让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</a:endParaRPr>
          </a:p>
          <a:p>
            <a:pPr algn="ctr" fontAlgn="ctr"/>
            <a:r>
              <a:rPr lang="en-US" altLang="zh-CN" sz="1400" noProof="1">
                <a:latin typeface="Arial" panose="020B0604020202020204" pitchFamily="34" charset="0"/>
                <a:ea typeface="黑体" panose="02010609060101010101" charset="-122"/>
              </a:rPr>
              <a:t> </a:t>
            </a:r>
          </a:p>
        </p:txBody>
      </p:sp>
      <p:cxnSp>
        <p:nvCxnSpPr>
          <p:cNvPr id="65" name="直接连接符 64"/>
          <p:cNvCxnSpPr/>
          <p:nvPr/>
        </p:nvCxnSpPr>
        <p:spPr>
          <a:xfrm>
            <a:off x="9500994" y="5095185"/>
            <a:ext cx="2762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897867" y="2080368"/>
            <a:ext cx="3474141" cy="2201575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txBody>
          <a:bodyPr anchor="ctr"/>
          <a:lstStyle/>
          <a:p>
            <a:pPr algn="ctr" eaLnBrk="1" hangingPunct="1"/>
            <a:endParaRPr lang="id-ID" altLang="en-US" sz="5400">
              <a:solidFill>
                <a:srgbClr val="FFFFFF"/>
              </a:solidFill>
            </a:endParaRPr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7846149" y="2080368"/>
            <a:ext cx="3474141" cy="2201575"/>
          </a:xfrm>
          <a:prstGeom prst="rect">
            <a:avLst/>
          </a:prstGeom>
          <a:solidFill>
            <a:srgbClr val="7F2E30"/>
          </a:solidFill>
          <a:ln>
            <a:noFill/>
          </a:ln>
        </p:spPr>
        <p:txBody>
          <a:bodyPr anchor="ctr"/>
          <a:lstStyle/>
          <a:p>
            <a:pPr algn="ctr" eaLnBrk="1" hangingPunct="1"/>
            <a:endParaRPr lang="id-ID" altLang="en-US">
              <a:solidFill>
                <a:srgbClr val="FFFFFF"/>
              </a:solidFill>
            </a:endParaRPr>
          </a:p>
        </p:txBody>
      </p:sp>
      <p:sp>
        <p:nvSpPr>
          <p:cNvPr id="54" name="TextBox 13"/>
          <p:cNvSpPr txBox="1">
            <a:spLocks noChangeArrowheads="1"/>
          </p:cNvSpPr>
          <p:nvPr/>
        </p:nvSpPr>
        <p:spPr bwMode="auto">
          <a:xfrm>
            <a:off x="1331767" y="2280501"/>
            <a:ext cx="25819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扫地机器人的组成</a:t>
            </a:r>
            <a:endParaRPr lang="en-US" altLang="zh-CN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5" name="TextBox 13"/>
          <p:cNvSpPr txBox="1">
            <a:spLocks noChangeArrowheads="1"/>
          </p:cNvSpPr>
          <p:nvPr/>
        </p:nvSpPr>
        <p:spPr bwMode="auto">
          <a:xfrm>
            <a:off x="1441127" y="2835565"/>
            <a:ext cx="2405215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基本的核心组件为：主控系统（大脑）、传感器等控制系统（感知系统）、动力供应系统（心脏）、清扫系统（四肢）。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TextBox 13"/>
          <p:cNvSpPr txBox="1">
            <a:spLocks noChangeArrowheads="1"/>
          </p:cNvSpPr>
          <p:nvPr/>
        </p:nvSpPr>
        <p:spPr bwMode="auto">
          <a:xfrm>
            <a:off x="8280049" y="2232224"/>
            <a:ext cx="25801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扫地机器人的功能</a:t>
            </a:r>
            <a:endParaRPr lang="en-US" altLang="zh-CN" sz="2400" b="1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7" name="TextBox 13"/>
          <p:cNvSpPr txBox="1">
            <a:spLocks noChangeArrowheads="1"/>
          </p:cNvSpPr>
          <p:nvPr/>
        </p:nvSpPr>
        <p:spPr bwMode="auto">
          <a:xfrm>
            <a:off x="8397264" y="2769164"/>
            <a:ext cx="2483684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自主避障，在不同地形如木地板、砖地板、地毯、地垫等以及各种障碍物的情况下进行实时决策，移动，清扫，自动充电等。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" name="图片 3" descr="图示, 工程绘图&#10;&#10;AI 生成的内容可能不正确。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656" y="1308376"/>
            <a:ext cx="3418493" cy="335835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1" grpId="0"/>
      <p:bldP spid="6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61" name="Title 1"/>
          <p:cNvSpPr txBox="1"/>
          <p:nvPr/>
        </p:nvSpPr>
        <p:spPr>
          <a:xfrm>
            <a:off x="4584700" y="295001"/>
            <a:ext cx="30226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2400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目录</a:t>
            </a:r>
            <a:endParaRPr lang="en-GB" altLang="zh-CN" sz="2400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8" name="Oval 9"/>
          <p:cNvSpPr/>
          <p:nvPr/>
        </p:nvSpPr>
        <p:spPr>
          <a:xfrm>
            <a:off x="817974" y="2531986"/>
            <a:ext cx="1828800" cy="1828800"/>
          </a:xfrm>
          <a:prstGeom prst="ellipse">
            <a:avLst/>
          </a:prstGeom>
          <a:solidFill>
            <a:srgbClr val="7F2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1</a:t>
            </a:r>
          </a:p>
        </p:txBody>
      </p:sp>
      <p:sp>
        <p:nvSpPr>
          <p:cNvPr id="29" name="Arc 16"/>
          <p:cNvSpPr/>
          <p:nvPr/>
        </p:nvSpPr>
        <p:spPr>
          <a:xfrm>
            <a:off x="726534" y="2423160"/>
            <a:ext cx="2011680" cy="2011680"/>
          </a:xfrm>
          <a:prstGeom prst="arc">
            <a:avLst>
              <a:gd name="adj1" fmla="val 16200000"/>
              <a:gd name="adj2" fmla="val 20498756"/>
            </a:avLst>
          </a:prstGeom>
          <a:noFill/>
          <a:ln w="38100" cap="rnd">
            <a:solidFill>
              <a:srgbClr val="7F2E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9"/>
          <p:cNvSpPr/>
          <p:nvPr/>
        </p:nvSpPr>
        <p:spPr>
          <a:xfrm>
            <a:off x="487166" y="4708540"/>
            <a:ext cx="26226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176655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清扫策略的核心技术拆解​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 defTabSz="1176655"/>
            <a:endParaRPr lang="en-GB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zh-CN" altLang="zh-CN" sz="1200" dirty="0">
              <a:effectLst/>
            </a:endParaRPr>
          </a:p>
        </p:txBody>
      </p:sp>
      <p:sp>
        <p:nvSpPr>
          <p:cNvPr id="31" name="Oval 25"/>
          <p:cNvSpPr/>
          <p:nvPr/>
        </p:nvSpPr>
        <p:spPr>
          <a:xfrm>
            <a:off x="3698334" y="2531986"/>
            <a:ext cx="1828800" cy="1828800"/>
          </a:xfrm>
          <a:prstGeom prst="ellipse">
            <a:avLst/>
          </a:prstGeom>
          <a:solidFill>
            <a:srgbClr val="B442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</a:p>
        </p:txBody>
      </p:sp>
      <p:sp>
        <p:nvSpPr>
          <p:cNvPr id="32" name="Arc 26"/>
          <p:cNvSpPr/>
          <p:nvPr/>
        </p:nvSpPr>
        <p:spPr>
          <a:xfrm>
            <a:off x="3607099" y="2440546"/>
            <a:ext cx="2011680" cy="2011680"/>
          </a:xfrm>
          <a:prstGeom prst="arc">
            <a:avLst>
              <a:gd name="adj1" fmla="val 16200000"/>
              <a:gd name="adj2" fmla="val 6147390"/>
            </a:avLst>
          </a:prstGeom>
          <a:noFill/>
          <a:ln w="38100" cap="rnd">
            <a:solidFill>
              <a:srgbClr val="B442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8"/>
          <p:cNvSpPr/>
          <p:nvPr/>
        </p:nvSpPr>
        <p:spPr>
          <a:xfrm>
            <a:off x="3361450" y="4708541"/>
            <a:ext cx="25025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176655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​清扫策略发展里程碑与关键贡献​</a:t>
            </a:r>
            <a:endParaRPr lang="en-GB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1" name="Oval 30"/>
          <p:cNvSpPr/>
          <p:nvPr/>
        </p:nvSpPr>
        <p:spPr>
          <a:xfrm>
            <a:off x="9358811" y="2531986"/>
            <a:ext cx="1828800" cy="1828800"/>
          </a:xfrm>
          <a:prstGeom prst="ellipse">
            <a:avLst/>
          </a:prstGeom>
          <a:solidFill>
            <a:srgbClr val="D791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4</a:t>
            </a:r>
          </a:p>
        </p:txBody>
      </p:sp>
      <p:sp>
        <p:nvSpPr>
          <p:cNvPr id="54" name="Arc 31"/>
          <p:cNvSpPr/>
          <p:nvPr/>
        </p:nvSpPr>
        <p:spPr>
          <a:xfrm>
            <a:off x="9276997" y="2440546"/>
            <a:ext cx="2011680" cy="2011680"/>
          </a:xfrm>
          <a:prstGeom prst="arc">
            <a:avLst>
              <a:gd name="adj1" fmla="val 16200000"/>
              <a:gd name="adj2" fmla="val 16152399"/>
            </a:avLst>
          </a:prstGeom>
          <a:noFill/>
          <a:ln w="38100" cap="rnd">
            <a:solidFill>
              <a:srgbClr val="D791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33"/>
          <p:cNvSpPr/>
          <p:nvPr/>
        </p:nvSpPr>
        <p:spPr>
          <a:xfrm>
            <a:off x="9327530" y="4708542"/>
            <a:ext cx="19106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176655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小结</a:t>
            </a:r>
            <a:endParaRPr lang="en-GB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2" name="Oval 35"/>
          <p:cNvSpPr/>
          <p:nvPr/>
        </p:nvSpPr>
        <p:spPr>
          <a:xfrm>
            <a:off x="6579105" y="2531986"/>
            <a:ext cx="1828800" cy="1828800"/>
          </a:xfrm>
          <a:prstGeom prst="ellipse">
            <a:avLst/>
          </a:prstGeom>
          <a:solidFill>
            <a:srgbClr val="C767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</a:p>
        </p:txBody>
      </p:sp>
      <p:sp>
        <p:nvSpPr>
          <p:cNvPr id="63" name="Arc 36"/>
          <p:cNvSpPr/>
          <p:nvPr/>
        </p:nvSpPr>
        <p:spPr>
          <a:xfrm>
            <a:off x="6487665" y="2440546"/>
            <a:ext cx="2011680" cy="2011680"/>
          </a:xfrm>
          <a:prstGeom prst="arc">
            <a:avLst>
              <a:gd name="adj1" fmla="val 16200000"/>
              <a:gd name="adj2" fmla="val 12379154"/>
            </a:avLst>
          </a:prstGeom>
          <a:noFill/>
          <a:ln w="38100" cap="rnd">
            <a:solidFill>
              <a:srgbClr val="C767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38"/>
          <p:cNvSpPr/>
          <p:nvPr/>
        </p:nvSpPr>
        <p:spPr>
          <a:xfrm>
            <a:off x="6367230" y="4708540"/>
            <a:ext cx="225254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176655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基于计算机技术的未来发展趋势​总结</a:t>
            </a:r>
            <a:endParaRPr lang="en-GB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"/>
                            </p:stCondLst>
                            <p:childTnLst>
                              <p:par>
                                <p:cTn id="6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/>
      <p:bldP spid="31" grpId="0" animBg="1"/>
      <p:bldP spid="32" grpId="0" animBg="1"/>
      <p:bldP spid="33" grpId="0"/>
      <p:bldP spid="51" grpId="0" animBg="1"/>
      <p:bldP spid="54" grpId="0" animBg="1"/>
      <p:bldP spid="60" grpId="0"/>
      <p:bldP spid="62" grpId="0" animBg="1"/>
      <p:bldP spid="63" grpId="0" animBg="1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" b="29643"/>
          <a:stretch>
            <a:fillRect/>
          </a:stretch>
        </p:blipFill>
        <p:spPr>
          <a:xfrm>
            <a:off x="0" y="1858930"/>
            <a:ext cx="12192000" cy="2971800"/>
          </a:xfrm>
          <a:prstGeom prst="rect">
            <a:avLst/>
          </a:prstGeom>
        </p:spPr>
      </p:pic>
      <p:sp>
        <p:nvSpPr>
          <p:cNvPr id="51" name="TextBox 11"/>
          <p:cNvSpPr txBox="1"/>
          <p:nvPr/>
        </p:nvSpPr>
        <p:spPr>
          <a:xfrm>
            <a:off x="4738557" y="2413337"/>
            <a:ext cx="27148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7F2E30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Part. 1 </a:t>
            </a:r>
            <a:endParaRPr lang="zh-CN" altLang="en-US" sz="6000" b="1" dirty="0">
              <a:solidFill>
                <a:srgbClr val="7F2E30"/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52" name="Subtitle 9"/>
          <p:cNvSpPr txBox="1"/>
          <p:nvPr/>
        </p:nvSpPr>
        <p:spPr>
          <a:xfrm>
            <a:off x="3473467" y="3509880"/>
            <a:ext cx="5245062" cy="731610"/>
          </a:xfrm>
          <a:prstGeom prst="rect">
            <a:avLst/>
          </a:prstGeom>
        </p:spPr>
        <p:txBody>
          <a:bodyPr vert="horz" wrap="square" lIns="102742" tIns="51371" rIns="102742" bIns="51371" rtlCol="0">
            <a:spAutoFit/>
          </a:bodyPr>
          <a:lstStyle>
            <a:defPPr>
              <a:defRPr lang="zh-CN"/>
            </a:defPPr>
            <a:lvl1pPr indent="0" algn="r" defTabSz="1087755">
              <a:lnSpc>
                <a:spcPct val="100000"/>
              </a:lnSpc>
              <a:spcBef>
                <a:spcPct val="20000"/>
              </a:spcBef>
              <a:buFont typeface="Arial" panose="020B0604020202020204"/>
              <a:buNone/>
              <a:defRPr sz="2000">
                <a:solidFill>
                  <a:schemeClr val="accent2"/>
                </a:solidFill>
                <a:latin typeface="微软雅黑"/>
                <a:ea typeface="微软雅黑"/>
                <a:cs typeface="Open Sans Light"/>
              </a:defRPr>
            </a:lvl1pPr>
            <a:lvl2pPr marL="1087755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2pPr>
            <a:lvl3pPr marL="2174875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3pPr>
            <a:lvl4pPr marL="3262630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4pPr>
            <a:lvl5pPr marL="4349750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5pPr>
            <a:lvl6pPr marL="5437505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4625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2380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699500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zh-CN" altLang="en-US" sz="2400" b="1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清扫策略的核心技术拆解​</a:t>
            </a:r>
          </a:p>
          <a:p>
            <a:pPr algn="ctr">
              <a:defRPr/>
            </a:pPr>
            <a:r>
              <a:rPr lang="en-US" altLang="zh-CN" sz="1400" dirty="0">
                <a:solidFill>
                  <a:srgbClr val="3C3C3C"/>
                </a:solidFill>
              </a:rPr>
              <a:t>The core technical dissection of the cleaning strategy</a:t>
            </a:r>
            <a:endParaRPr lang="en-US" sz="1400" kern="0" dirty="0">
              <a:solidFill>
                <a:srgbClr val="3C3C3C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38" name="Title 1"/>
          <p:cNvSpPr txBox="1"/>
          <p:nvPr/>
        </p:nvSpPr>
        <p:spPr>
          <a:xfrm>
            <a:off x="4584700" y="295001"/>
            <a:ext cx="39751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2800" b="1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三大技术模块</a:t>
            </a:r>
            <a:r>
              <a:rPr lang="zh-CN" altLang="en-US" sz="1600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（计算机视角拆解）</a:t>
            </a:r>
            <a:endParaRPr lang="en-GB" altLang="zh-CN" sz="2400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9" name="TextBox 16"/>
          <p:cNvSpPr txBox="1"/>
          <p:nvPr/>
        </p:nvSpPr>
        <p:spPr>
          <a:xfrm>
            <a:off x="6263206" y="2391123"/>
            <a:ext cx="1188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7F2E30"/>
                </a:solidFill>
                <a:latin typeface="Source Sans Pro" panose="020B0503030403020204" pitchFamily="34" charset="0"/>
              </a:rPr>
              <a:t>step1</a:t>
            </a:r>
            <a:endParaRPr lang="en-GB" sz="3200" b="1" dirty="0">
              <a:solidFill>
                <a:srgbClr val="7F2E30"/>
              </a:solidFill>
              <a:latin typeface="Source Sans Pro" panose="020B0503030403020204" pitchFamily="34" charset="0"/>
            </a:endParaRPr>
          </a:p>
        </p:txBody>
      </p:sp>
      <p:grpSp>
        <p:nvGrpSpPr>
          <p:cNvPr id="40" name="Group 17"/>
          <p:cNvGrpSpPr/>
          <p:nvPr/>
        </p:nvGrpSpPr>
        <p:grpSpPr>
          <a:xfrm>
            <a:off x="7443243" y="2506042"/>
            <a:ext cx="2596107" cy="825218"/>
            <a:chOff x="509993" y="4146958"/>
            <a:chExt cx="2596107" cy="825218"/>
          </a:xfrm>
        </p:grpSpPr>
        <p:sp>
          <p:nvSpPr>
            <p:cNvPr id="50" name="TextBox 18"/>
            <p:cNvSpPr txBox="1"/>
            <p:nvPr/>
          </p:nvSpPr>
          <p:spPr>
            <a:xfrm>
              <a:off x="509993" y="414695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76655"/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环境感知层（输入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）</a:t>
              </a:r>
              <a:endParaRPr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51" name="Rectangle 19"/>
            <p:cNvSpPr/>
            <p:nvPr/>
          </p:nvSpPr>
          <p:spPr>
            <a:xfrm>
              <a:off x="509993" y="4448956"/>
              <a:ext cx="259610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/>
                <a:t>激光雷达、红外传感器、摄像头（视觉识别）</a:t>
              </a:r>
              <a:endParaRPr lang="en-GB" sz="1400" dirty="0"/>
            </a:p>
          </p:txBody>
        </p:sp>
      </p:grpSp>
      <p:sp>
        <p:nvSpPr>
          <p:cNvPr id="52" name="TextBox 20"/>
          <p:cNvSpPr txBox="1"/>
          <p:nvPr/>
        </p:nvSpPr>
        <p:spPr>
          <a:xfrm>
            <a:off x="6280744" y="3537114"/>
            <a:ext cx="1188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Source Sans Pro" panose="020B0503030403020204" pitchFamily="34" charset="0"/>
              </a:rPr>
              <a:t>step2</a:t>
            </a:r>
            <a:endParaRPr lang="en-GB" sz="3200" b="1" dirty="0">
              <a:solidFill>
                <a:srgbClr val="C00000"/>
              </a:solidFill>
              <a:latin typeface="Source Sans Pro" panose="020B0503030403020204" pitchFamily="34" charset="0"/>
            </a:endParaRPr>
          </a:p>
        </p:txBody>
      </p:sp>
      <p:sp>
        <p:nvSpPr>
          <p:cNvPr id="53" name="TextBox 24"/>
          <p:cNvSpPr txBox="1"/>
          <p:nvPr/>
        </p:nvSpPr>
        <p:spPr>
          <a:xfrm>
            <a:off x="6280744" y="4659388"/>
            <a:ext cx="1188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363636"/>
                </a:solidFill>
                <a:latin typeface="Source Sans Pro" panose="020B0503030403020204" pitchFamily="34" charset="0"/>
              </a:rPr>
              <a:t>step3</a:t>
            </a:r>
            <a:endParaRPr lang="en-GB" sz="3200" b="1" dirty="0">
              <a:solidFill>
                <a:srgbClr val="363636"/>
              </a:solidFill>
              <a:latin typeface="Source Sans Pro" panose="020B0503030403020204" pitchFamily="34" charset="0"/>
            </a:endParaRPr>
          </a:p>
        </p:txBody>
      </p:sp>
      <p:grpSp>
        <p:nvGrpSpPr>
          <p:cNvPr id="54" name="Group 32"/>
          <p:cNvGrpSpPr/>
          <p:nvPr/>
        </p:nvGrpSpPr>
        <p:grpSpPr>
          <a:xfrm>
            <a:off x="7429676" y="4753702"/>
            <a:ext cx="2609674" cy="825218"/>
            <a:chOff x="496426" y="4146958"/>
            <a:chExt cx="2609674" cy="825218"/>
          </a:xfrm>
        </p:grpSpPr>
        <p:sp>
          <p:nvSpPr>
            <p:cNvPr id="55" name="TextBox 33"/>
            <p:cNvSpPr txBox="1"/>
            <p:nvPr/>
          </p:nvSpPr>
          <p:spPr>
            <a:xfrm>
              <a:off x="496426" y="414695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76655"/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执行控制层（输出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）</a:t>
              </a:r>
              <a:endParaRPr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56" name="Rectangle 34"/>
            <p:cNvSpPr/>
            <p:nvPr/>
          </p:nvSpPr>
          <p:spPr>
            <a:xfrm>
              <a:off x="509993" y="4448956"/>
              <a:ext cx="259610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/>
                <a:t>电机驱动、吸力调节、避障动作响应</a:t>
              </a:r>
              <a:endParaRPr lang="en-GB" sz="1400" dirty="0"/>
            </a:p>
          </p:txBody>
        </p:sp>
      </p:grpSp>
      <p:grpSp>
        <p:nvGrpSpPr>
          <p:cNvPr id="57" name="Group 35"/>
          <p:cNvGrpSpPr/>
          <p:nvPr/>
        </p:nvGrpSpPr>
        <p:grpSpPr>
          <a:xfrm>
            <a:off x="7429676" y="3629873"/>
            <a:ext cx="2552524" cy="825218"/>
            <a:chOff x="496426" y="4146958"/>
            <a:chExt cx="2552524" cy="825218"/>
          </a:xfrm>
        </p:grpSpPr>
        <p:sp>
          <p:nvSpPr>
            <p:cNvPr id="58" name="TextBox 36"/>
            <p:cNvSpPr txBox="1"/>
            <p:nvPr/>
          </p:nvSpPr>
          <p:spPr>
            <a:xfrm>
              <a:off x="496426" y="4146958"/>
              <a:ext cx="2262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76655"/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路径规划层（处理）</a:t>
              </a:r>
              <a:endParaRPr lang="en-GB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59" name="Rectangle 37"/>
            <p:cNvSpPr/>
            <p:nvPr/>
          </p:nvSpPr>
          <p:spPr>
            <a:xfrm>
              <a:off x="509993" y="4448956"/>
              <a:ext cx="253895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dirty="0"/>
                <a:t>A*</a:t>
              </a:r>
              <a:r>
                <a:rPr lang="zh-CN" altLang="en-US" sz="1400" dirty="0"/>
                <a:t>算法、</a:t>
              </a:r>
              <a:r>
                <a:rPr lang="en-US" altLang="zh-CN" sz="1400" dirty="0"/>
                <a:t>Dijkstra</a:t>
              </a:r>
              <a:r>
                <a:rPr lang="zh-CN" altLang="en-US" sz="1400" dirty="0"/>
                <a:t>算法、随机采样规划（</a:t>
              </a:r>
              <a:r>
                <a:rPr lang="en-US" altLang="zh-CN" sz="1400" dirty="0"/>
                <a:t>RRT</a:t>
              </a:r>
              <a:r>
                <a:rPr lang="zh-CN" altLang="en-US" sz="1400" dirty="0"/>
                <a:t>）</a:t>
              </a:r>
              <a:endParaRPr lang="en-GB" sz="1400" dirty="0"/>
            </a:p>
          </p:txBody>
        </p:sp>
      </p:grpSp>
      <p:grpSp>
        <p:nvGrpSpPr>
          <p:cNvPr id="60" name="Group 38"/>
          <p:cNvGrpSpPr/>
          <p:nvPr/>
        </p:nvGrpSpPr>
        <p:grpSpPr>
          <a:xfrm>
            <a:off x="2300317" y="1930716"/>
            <a:ext cx="3984565" cy="3965059"/>
            <a:chOff x="3685337" y="1514384"/>
            <a:chExt cx="4821324" cy="4797722"/>
          </a:xfrm>
        </p:grpSpPr>
        <p:sp>
          <p:nvSpPr>
            <p:cNvPr id="61" name="Freeform 39"/>
            <p:cNvSpPr/>
            <p:nvPr/>
          </p:nvSpPr>
          <p:spPr>
            <a:xfrm>
              <a:off x="4112274" y="1770540"/>
              <a:ext cx="4137890" cy="4137892"/>
            </a:xfrm>
            <a:custGeom>
              <a:avLst/>
              <a:gdLst>
                <a:gd name="connsiteX0" fmla="*/ 2275840 w 4551680"/>
                <a:gd name="connsiteY0" fmla="*/ 0 h 4551680"/>
                <a:gd name="connsiteX1" fmla="*/ 4246775 w 4551680"/>
                <a:gd name="connsiteY1" fmla="*/ 1137920 h 4551680"/>
                <a:gd name="connsiteX2" fmla="*/ 4246775 w 4551680"/>
                <a:gd name="connsiteY2" fmla="*/ 3413760 h 4551680"/>
                <a:gd name="connsiteX3" fmla="*/ 2275840 w 4551680"/>
                <a:gd name="connsiteY3" fmla="*/ 2275840 h 4551680"/>
                <a:gd name="connsiteX4" fmla="*/ 2275840 w 4551680"/>
                <a:gd name="connsiteY4" fmla="*/ 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2275840" y="0"/>
                  </a:moveTo>
                  <a:cubicBezTo>
                    <a:pt x="3088919" y="0"/>
                    <a:pt x="3840236" y="433773"/>
                    <a:pt x="4246775" y="1137920"/>
                  </a:cubicBezTo>
                  <a:cubicBezTo>
                    <a:pt x="4653315" y="1842067"/>
                    <a:pt x="4653315" y="2709613"/>
                    <a:pt x="4246775" y="3413760"/>
                  </a:cubicBezTo>
                  <a:lnTo>
                    <a:pt x="2275840" y="2275840"/>
                  </a:lnTo>
                  <a:lnTo>
                    <a:pt x="2275840" y="0"/>
                  </a:lnTo>
                  <a:close/>
                </a:path>
              </a:pathLst>
            </a:custGeom>
            <a:solidFill>
              <a:srgbClr val="B44245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464884" tIns="1030563" rIns="593276" bIns="2298531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5200" kern="1200"/>
            </a:p>
          </p:txBody>
        </p:sp>
        <p:sp>
          <p:nvSpPr>
            <p:cNvPr id="62" name="Freeform 40"/>
            <p:cNvSpPr/>
            <p:nvPr/>
          </p:nvSpPr>
          <p:spPr>
            <a:xfrm>
              <a:off x="4027053" y="1918321"/>
              <a:ext cx="4137890" cy="4137892"/>
            </a:xfrm>
            <a:custGeom>
              <a:avLst/>
              <a:gdLst>
                <a:gd name="connsiteX0" fmla="*/ 4246775 w 4551680"/>
                <a:gd name="connsiteY0" fmla="*/ 3413760 h 4551680"/>
                <a:gd name="connsiteX1" fmla="*/ 2275840 w 4551680"/>
                <a:gd name="connsiteY1" fmla="*/ 4551680 h 4551680"/>
                <a:gd name="connsiteX2" fmla="*/ 304905 w 4551680"/>
                <a:gd name="connsiteY2" fmla="*/ 3413760 h 4551680"/>
                <a:gd name="connsiteX3" fmla="*/ 2275840 w 4551680"/>
                <a:gd name="connsiteY3" fmla="*/ 2275840 h 4551680"/>
                <a:gd name="connsiteX4" fmla="*/ 424677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4246775" y="3413760"/>
                  </a:moveTo>
                  <a:cubicBezTo>
                    <a:pt x="3840235" y="4117907"/>
                    <a:pt x="3088919" y="4551680"/>
                    <a:pt x="2275840" y="4551680"/>
                  </a:cubicBezTo>
                  <a:cubicBezTo>
                    <a:pt x="1462761" y="4551680"/>
                    <a:pt x="711444" y="4117907"/>
                    <a:pt x="304905" y="3413760"/>
                  </a:cubicBezTo>
                  <a:lnTo>
                    <a:pt x="2275840" y="2275840"/>
                  </a:lnTo>
                  <a:lnTo>
                    <a:pt x="4246775" y="3413760"/>
                  </a:lnTo>
                  <a:close/>
                </a:path>
              </a:pathLst>
            </a:custGeom>
            <a:solidFill>
              <a:srgbClr val="363636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66284" tIns="3035723" rIns="1112096" bIns="488951" numCol="1" spcCol="1270" anchor="ctr" anchorCtr="0">
              <a:noAutofit/>
            </a:bodyPr>
            <a:lstStyle/>
            <a:p>
              <a:pPr lvl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6500" kern="1200"/>
            </a:p>
          </p:txBody>
        </p:sp>
        <p:sp>
          <p:nvSpPr>
            <p:cNvPr id="63" name="Freeform 41"/>
            <p:cNvSpPr/>
            <p:nvPr/>
          </p:nvSpPr>
          <p:spPr>
            <a:xfrm>
              <a:off x="3941149" y="1770540"/>
              <a:ext cx="4137891" cy="4137892"/>
            </a:xfrm>
            <a:custGeom>
              <a:avLst/>
              <a:gdLst>
                <a:gd name="connsiteX0" fmla="*/ 304905 w 4551680"/>
                <a:gd name="connsiteY0" fmla="*/ 3413760 h 4551680"/>
                <a:gd name="connsiteX1" fmla="*/ 304905 w 4551680"/>
                <a:gd name="connsiteY1" fmla="*/ 1137920 h 4551680"/>
                <a:gd name="connsiteX2" fmla="*/ 2275840 w 4551680"/>
                <a:gd name="connsiteY2" fmla="*/ 0 h 4551680"/>
                <a:gd name="connsiteX3" fmla="*/ 2275840 w 4551680"/>
                <a:gd name="connsiteY3" fmla="*/ 2275840 h 4551680"/>
                <a:gd name="connsiteX4" fmla="*/ 304905 w 4551680"/>
                <a:gd name="connsiteY4" fmla="*/ 3413760 h 4551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1680" h="4551680">
                  <a:moveTo>
                    <a:pt x="304905" y="3413760"/>
                  </a:moveTo>
                  <a:cubicBezTo>
                    <a:pt x="-101635" y="2709613"/>
                    <a:pt x="-101635" y="1842067"/>
                    <a:pt x="304905" y="1137920"/>
                  </a:cubicBezTo>
                  <a:cubicBezTo>
                    <a:pt x="711445" y="433773"/>
                    <a:pt x="1462761" y="0"/>
                    <a:pt x="2275840" y="0"/>
                  </a:cubicBezTo>
                  <a:lnTo>
                    <a:pt x="2275840" y="2275840"/>
                  </a:lnTo>
                  <a:lnTo>
                    <a:pt x="304905" y="3413760"/>
                  </a:lnTo>
                  <a:close/>
                </a:path>
              </a:pathLst>
            </a:custGeom>
            <a:solidFill>
              <a:srgbClr val="7F2E3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93277" tIns="1030563" rIns="2464883" bIns="2298531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kern="1200" dirty="0"/>
            </a:p>
          </p:txBody>
        </p:sp>
        <p:sp>
          <p:nvSpPr>
            <p:cNvPr id="64" name="Circular Arrow 42"/>
            <p:cNvSpPr/>
            <p:nvPr/>
          </p:nvSpPr>
          <p:spPr>
            <a:xfrm>
              <a:off x="3856461" y="1514384"/>
              <a:ext cx="4650200" cy="4650202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6199432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5" name="Circular Arrow 43"/>
            <p:cNvSpPr/>
            <p:nvPr/>
          </p:nvSpPr>
          <p:spPr>
            <a:xfrm>
              <a:off x="3770899" y="1661904"/>
              <a:ext cx="4650200" cy="4650202"/>
            </a:xfrm>
            <a:prstGeom prst="circularArrow">
              <a:avLst>
                <a:gd name="adj1" fmla="val 5085"/>
                <a:gd name="adj2" fmla="val 327528"/>
                <a:gd name="adj3" fmla="val 8671970"/>
                <a:gd name="adj4" fmla="val 1800502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6" name="Circular Arrow 44"/>
            <p:cNvSpPr/>
            <p:nvPr/>
          </p:nvSpPr>
          <p:spPr>
            <a:xfrm>
              <a:off x="3685337" y="1514384"/>
              <a:ext cx="4650200" cy="4650202"/>
            </a:xfrm>
            <a:prstGeom prst="circularArrow">
              <a:avLst>
                <a:gd name="adj1" fmla="val 5085"/>
                <a:gd name="adj2" fmla="val 327528"/>
                <a:gd name="adj3" fmla="val 15873039"/>
                <a:gd name="adj4" fmla="val 9000000"/>
                <a:gd name="adj5" fmla="val 5932"/>
              </a:avLst>
            </a:prstGeom>
            <a:no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5" name="图片 4" descr="黑白色的标志&#10;&#10;AI 生成的内容可能不正确。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946" y="2967694"/>
            <a:ext cx="490465" cy="490465"/>
          </a:xfrm>
          <a:prstGeom prst="rect">
            <a:avLst/>
          </a:prstGeom>
        </p:spPr>
      </p:pic>
      <p:pic>
        <p:nvPicPr>
          <p:cNvPr id="7" name="图片 6" descr="图片包含 图标&#10;&#10;AI 生成的内容可能不正确。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654" y="4447056"/>
            <a:ext cx="447887" cy="447887"/>
          </a:xfrm>
          <a:prstGeom prst="rect">
            <a:avLst/>
          </a:prstGeom>
        </p:spPr>
      </p:pic>
      <p:pic>
        <p:nvPicPr>
          <p:cNvPr id="9" name="图片 8" descr="图标&#10;&#10;AI 生成的内容可能不正确。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772" y="2996405"/>
            <a:ext cx="490465" cy="49046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21842" y="3531761"/>
            <a:ext cx="83067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0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endParaRPr lang="zh-CN" altLang="en-US" sz="20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62217" y="3519515"/>
            <a:ext cx="137723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processing</a:t>
            </a:r>
            <a:endParaRPr lang="zh-CN" altLang="en-US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823559" y="4957393"/>
            <a:ext cx="93807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b="0" cap="none" spc="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endParaRPr lang="zh-CN" altLang="en-US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068654" y="3060700"/>
            <a:ext cx="447887" cy="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4840772" y="4121889"/>
            <a:ext cx="194778" cy="333202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6201559" y="1372924"/>
            <a:ext cx="704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0716" y="1496034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17665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基础避障功能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00087" y="1856248"/>
            <a:ext cx="514350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光学限位传感器</a:t>
            </a:r>
            <a:r>
              <a:rPr lang="zh-CN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前弧形盖受到物理撞击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光学限位开关激活并发出电信号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转向</a:t>
            </a:r>
            <a:endParaRPr lang="en-US" altLang="zh-CN" sz="11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  <a:sym typeface="Wingdings" panose="05000000000000000000" pitchFamily="2" charset="2"/>
            </a:endParaRPr>
          </a:p>
          <a:p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201559" y="2353710"/>
            <a:ext cx="704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765" y="2476856"/>
            <a:ext cx="19653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17665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精准转向</a:t>
            </a:r>
            <a:r>
              <a:rPr lang="zh-CN" altLang="en-US" sz="2000" b="1" dirty="0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与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移动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187387" y="2855010"/>
            <a:ext cx="51435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陀螺仪传感器（精准转向）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&amp; 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车轮编码器（检测移动距离）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控制机器人按规划路线清扫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7796"/>
            <a:ext cx="12192000" cy="699541"/>
          </a:xfrm>
          <a:prstGeom prst="rect">
            <a:avLst/>
          </a:prstGeom>
        </p:spPr>
      </p:pic>
      <p:sp>
        <p:nvSpPr>
          <p:cNvPr id="20" name="Title 1"/>
          <p:cNvSpPr txBox="1"/>
          <p:nvPr/>
        </p:nvSpPr>
        <p:spPr>
          <a:xfrm>
            <a:off x="4584700" y="295001"/>
            <a:ext cx="30226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2400" b="1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环境感知层</a:t>
            </a:r>
            <a:endParaRPr lang="en-GB" altLang="zh-CN" sz="2400" b="1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" name="图片 2" descr="图片包含 室内, 水槽, 房间, 打开&#10;&#10;AI 生成的内容可能不正确。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587" y="2124494"/>
            <a:ext cx="3682563" cy="3359485"/>
          </a:xfrm>
          <a:prstGeom prst="roundRect">
            <a:avLst/>
          </a:prstGeom>
        </p:spPr>
      </p:pic>
      <p:sp>
        <p:nvSpPr>
          <p:cNvPr id="5" name="TextBox 46"/>
          <p:cNvSpPr txBox="1"/>
          <p:nvPr/>
        </p:nvSpPr>
        <p:spPr>
          <a:xfrm>
            <a:off x="6214366" y="3349922"/>
            <a:ext cx="704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03</a:t>
            </a:r>
          </a:p>
        </p:txBody>
      </p:sp>
      <p:sp>
        <p:nvSpPr>
          <p:cNvPr id="6" name="TextBox 52"/>
          <p:cNvSpPr txBox="1"/>
          <p:nvPr/>
        </p:nvSpPr>
        <p:spPr>
          <a:xfrm>
            <a:off x="6753361" y="3473062"/>
            <a:ext cx="12014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17665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越障功能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Rectangle 53"/>
          <p:cNvSpPr/>
          <p:nvPr/>
        </p:nvSpPr>
        <p:spPr>
          <a:xfrm>
            <a:off x="6214366" y="3843103"/>
            <a:ext cx="51435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激光雷达传感器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发射连续脉冲来测机器人与障碍物间距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绘制二维平面图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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运用智能算法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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避绕而非直接返回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9" name="TextBox 46"/>
          <p:cNvSpPr txBox="1"/>
          <p:nvPr/>
        </p:nvSpPr>
        <p:spPr>
          <a:xfrm>
            <a:off x="6214366" y="4434512"/>
            <a:ext cx="6946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0</a:t>
            </a:r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4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52"/>
          <p:cNvSpPr txBox="1"/>
          <p:nvPr/>
        </p:nvSpPr>
        <p:spPr>
          <a:xfrm>
            <a:off x="6761934" y="4600364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176655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智能识别</a:t>
            </a:r>
            <a:endParaRPr lang="en-US" altLang="zh-CN" sz="2000" b="1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3" name="Rectangle 53"/>
          <p:cNvSpPr/>
          <p:nvPr/>
        </p:nvSpPr>
        <p:spPr>
          <a:xfrm>
            <a:off x="6214366" y="5000474"/>
            <a:ext cx="51435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3D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深度传感器与传感器融合技术</a:t>
            </a:r>
            <a:r>
              <a: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摄像头扫描（单目或双目摄像）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主控制器进行判断，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若不可进入则绕开。也可绘制房间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3D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景深数据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沿最佳路线清扫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工作完毕回充电处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  <a:sym typeface="Wingdings" panose="05000000000000000000" pitchFamily="2" charset="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  <a:sym typeface="Wingdings" panose="05000000000000000000" pitchFamily="2" charset="2"/>
              </a:rPr>
              <a:t>红外距离传感器 有效识别楼梯口等危险区域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981450" y="1528530"/>
            <a:ext cx="684914" cy="684914"/>
          </a:xfrm>
          <a:prstGeom prst="ellipse">
            <a:avLst/>
          </a:prstGeom>
          <a:solidFill>
            <a:srgbClr val="7F2E30"/>
          </a:solidFill>
          <a:ln>
            <a:noFill/>
          </a:ln>
          <a:effectLst>
            <a:outerShdw blurRad="152400" dist="1270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8954" y="2422778"/>
            <a:ext cx="4017046" cy="1229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激光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SLAM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：通过激光雷达快速扫描环境，获取障碍物距离数据，结合自身运动轨迹（如轮子的里程计数据），实时计算自身坐标，同时构建出高精度的“网格地图”，类似用激光笔扫一圈就画出房间轮廓。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3981454" y="3510295"/>
            <a:ext cx="684914" cy="684914"/>
          </a:xfrm>
          <a:prstGeom prst="ellipse">
            <a:avLst/>
          </a:prstGeom>
          <a:solidFill>
            <a:srgbClr val="7F2E30"/>
          </a:solidFill>
          <a:ln>
            <a:noFill/>
          </a:ln>
          <a:effectLst>
            <a:outerShdw blurRad="152400" dist="1270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" panose="02000000000000000000" pitchFamily="2" charset="0"/>
                <a:ea typeface="Roboto" panose="02000000000000000000" pitchFamily="2" charset="0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78954" y="4383884"/>
            <a:ext cx="3826456" cy="79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全局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路径规划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：清扫前先规划整体路线，比如采用“弓字形”“沿边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覆盖”模式，确保全屋高效覆盖，类似提前规划好打扫房间的顺序。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981450" y="5214881"/>
            <a:ext cx="684914" cy="684914"/>
          </a:xfrm>
          <a:prstGeom prst="ellipse">
            <a:avLst/>
          </a:prstGeom>
          <a:solidFill>
            <a:srgbClr val="7F2E30"/>
          </a:solidFill>
          <a:ln>
            <a:noFill/>
          </a:ln>
          <a:effectLst>
            <a:outerShdw blurRad="152400" dist="1270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" panose="02000000000000000000" pitchFamily="2" charset="0"/>
                <a:ea typeface="Roboto" panose="02000000000000000000" pitchFamily="2" charset="0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6364" y="5929288"/>
            <a:ext cx="38264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其他：电量管理，模式切换，故障处理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36803" y="2422752"/>
            <a:ext cx="3826456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视觉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SLAM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：依赖摄像头拍摄环境图像，通过识别墙角、家具边缘等特征点，比对不同帧图像的特征变化来定位，同时构建“视觉地图”，好比人通过眼睛看参照物记路。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36788" y="4368191"/>
            <a:ext cx="3826456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局部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动态避障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：遇到实时突发障碍（如掉落的袜子、移动的宠物），通过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A*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D* Lite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等算法快速计算绕行路线，无需重新规划全局，好比走路时遇到石头，瞬间绕过去继续前进。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24" name="Title 1"/>
          <p:cNvSpPr txBox="1"/>
          <p:nvPr/>
        </p:nvSpPr>
        <p:spPr>
          <a:xfrm>
            <a:off x="4584700" y="295001"/>
            <a:ext cx="30226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2400" b="1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路径规划层</a:t>
            </a:r>
            <a:endParaRPr lang="en-GB" altLang="zh-CN" sz="2400" b="1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66364" y="1712499"/>
            <a:ext cx="5396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核心技术：</a:t>
            </a:r>
            <a:r>
              <a:rPr lang="en-US" altLang="zh-CN" sz="2000" dirty="0"/>
              <a:t>SLAM</a:t>
            </a:r>
            <a:r>
              <a:rPr lang="zh-CN" altLang="en-US" sz="2000" dirty="0"/>
              <a:t>算法（即时定位与地图构建）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66375" y="3652738"/>
            <a:ext cx="5314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核心任务：路径规划算法（规划“怎么走”）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66364" y="5382874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核心逻辑：任务调度与优先级管理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12"/>
          <p:cNvGrpSpPr/>
          <p:nvPr/>
        </p:nvGrpSpPr>
        <p:grpSpPr>
          <a:xfrm>
            <a:off x="4908551" y="2793410"/>
            <a:ext cx="2840790" cy="713936"/>
            <a:chOff x="3392959" y="2281769"/>
            <a:chExt cx="2561822" cy="713936"/>
          </a:xfrm>
        </p:grpSpPr>
        <p:sp>
          <p:nvSpPr>
            <p:cNvPr id="50" name="Rectangle 8"/>
            <p:cNvSpPr/>
            <p:nvPr/>
          </p:nvSpPr>
          <p:spPr>
            <a:xfrm>
              <a:off x="3392959" y="2281769"/>
              <a:ext cx="2405575" cy="713936"/>
            </a:xfrm>
            <a:prstGeom prst="rect">
              <a:avLst/>
            </a:prstGeom>
            <a:solidFill>
              <a:srgbClr val="36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51" name="TextBox 16"/>
            <p:cNvSpPr txBox="1"/>
            <p:nvPr/>
          </p:nvSpPr>
          <p:spPr>
            <a:xfrm>
              <a:off x="3540915" y="2454071"/>
              <a:ext cx="2413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SUCTION ADJUSTMENT</a:t>
              </a:r>
              <a:endParaRPr lang="en-GB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24" name="Title 1"/>
          <p:cNvSpPr txBox="1"/>
          <p:nvPr/>
        </p:nvSpPr>
        <p:spPr>
          <a:xfrm>
            <a:off x="4584700" y="295001"/>
            <a:ext cx="30226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2400" b="1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执行控制层</a:t>
            </a:r>
            <a:endParaRPr lang="en-GB" altLang="zh-CN" sz="2400" b="1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45" name="Group 13"/>
          <p:cNvGrpSpPr/>
          <p:nvPr/>
        </p:nvGrpSpPr>
        <p:grpSpPr>
          <a:xfrm>
            <a:off x="1137528" y="2793411"/>
            <a:ext cx="2405575" cy="713936"/>
            <a:chOff x="858128" y="2818811"/>
            <a:chExt cx="2405575" cy="713936"/>
          </a:xfrm>
        </p:grpSpPr>
        <p:sp>
          <p:nvSpPr>
            <p:cNvPr id="46" name="Rectangle 7"/>
            <p:cNvSpPr/>
            <p:nvPr/>
          </p:nvSpPr>
          <p:spPr>
            <a:xfrm>
              <a:off x="858128" y="2818811"/>
              <a:ext cx="2405575" cy="713936"/>
            </a:xfrm>
            <a:prstGeom prst="rect">
              <a:avLst/>
            </a:prstGeom>
            <a:solidFill>
              <a:srgbClr val="7F2E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47" name="TextBox 15"/>
            <p:cNvSpPr txBox="1"/>
            <p:nvPr/>
          </p:nvSpPr>
          <p:spPr>
            <a:xfrm>
              <a:off x="1276918" y="2991112"/>
              <a:ext cx="1567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MOTOR DRIVE</a:t>
              </a:r>
            </a:p>
          </p:txBody>
        </p:sp>
      </p:grpSp>
      <p:grpSp>
        <p:nvGrpSpPr>
          <p:cNvPr id="53" name="Group 11"/>
          <p:cNvGrpSpPr/>
          <p:nvPr/>
        </p:nvGrpSpPr>
        <p:grpSpPr>
          <a:xfrm>
            <a:off x="8706144" y="2793411"/>
            <a:ext cx="2405575" cy="713936"/>
            <a:chOff x="5823244" y="2818812"/>
            <a:chExt cx="2405575" cy="713936"/>
          </a:xfrm>
        </p:grpSpPr>
        <p:sp>
          <p:nvSpPr>
            <p:cNvPr id="54" name="Rectangle 9"/>
            <p:cNvSpPr/>
            <p:nvPr/>
          </p:nvSpPr>
          <p:spPr>
            <a:xfrm>
              <a:off x="5823244" y="2818812"/>
              <a:ext cx="2405575" cy="713936"/>
            </a:xfrm>
            <a:prstGeom prst="rect">
              <a:avLst/>
            </a:prstGeom>
            <a:solidFill>
              <a:srgbClr val="7F2E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55" name="TextBox 17"/>
            <p:cNvSpPr txBox="1"/>
            <p:nvPr/>
          </p:nvSpPr>
          <p:spPr>
            <a:xfrm>
              <a:off x="6433080" y="2991398"/>
              <a:ext cx="11859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RESPONSE</a:t>
              </a:r>
              <a:endParaRPr lang="en-GB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Rectangle 23"/>
          <p:cNvSpPr/>
          <p:nvPr/>
        </p:nvSpPr>
        <p:spPr>
          <a:xfrm>
            <a:off x="1300396" y="4357489"/>
            <a:ext cx="21052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中央驱动器，驱动机器人前进后退和转弯</a:t>
            </a:r>
            <a:endParaRPr lang="en-GB" sz="1400" dirty="0"/>
          </a:p>
        </p:txBody>
      </p:sp>
      <p:sp>
        <p:nvSpPr>
          <p:cNvPr id="58" name="Rectangle 24"/>
          <p:cNvSpPr/>
          <p:nvPr/>
        </p:nvSpPr>
        <p:spPr>
          <a:xfrm>
            <a:off x="5162680" y="4369853"/>
            <a:ext cx="210523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/>
              <a:t>马达带动风扇叶转动，使机体内部仓产生一个低于外部的压强</a:t>
            </a:r>
            <a:r>
              <a:rPr lang="en-GB" sz="1400" dirty="0"/>
              <a:t> </a:t>
            </a:r>
          </a:p>
        </p:txBody>
      </p:sp>
      <p:sp>
        <p:nvSpPr>
          <p:cNvPr id="59" name="Rectangle 25"/>
          <p:cNvSpPr/>
          <p:nvPr/>
        </p:nvSpPr>
        <p:spPr>
          <a:xfrm>
            <a:off x="8924376" y="4357489"/>
            <a:ext cx="210523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测量红外线的强度及返回时间，判断障碍物距离、尺寸，执行避障</a:t>
            </a:r>
            <a:r>
              <a:rPr lang="en-GB" sz="1400" dirty="0"/>
              <a:t> </a:t>
            </a:r>
          </a:p>
        </p:txBody>
      </p:sp>
      <p:sp>
        <p:nvSpPr>
          <p:cNvPr id="61" name="TextBox 27"/>
          <p:cNvSpPr txBox="1"/>
          <p:nvPr/>
        </p:nvSpPr>
        <p:spPr>
          <a:xfrm>
            <a:off x="1799017" y="398815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76655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电机驱动</a:t>
            </a:r>
            <a:endParaRPr lang="en-GB" altLang="zh-CN" sz="20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2" name="TextBox 28"/>
          <p:cNvSpPr txBox="1"/>
          <p:nvPr/>
        </p:nvSpPr>
        <p:spPr>
          <a:xfrm>
            <a:off x="5588924" y="400052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76655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吸力调节</a:t>
            </a:r>
            <a:endParaRPr lang="en-GB" altLang="zh-CN" sz="20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3" name="TextBox 29"/>
          <p:cNvSpPr txBox="1"/>
          <p:nvPr/>
        </p:nvSpPr>
        <p:spPr>
          <a:xfrm>
            <a:off x="9124101" y="3988157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76655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避障动作响应</a:t>
            </a:r>
            <a:endParaRPr lang="en-GB" altLang="zh-CN" sz="2000" dirty="0">
              <a:solidFill>
                <a:schemeClr val="bg2">
                  <a:lumMod val="2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" b="29643"/>
          <a:stretch>
            <a:fillRect/>
          </a:stretch>
        </p:blipFill>
        <p:spPr>
          <a:xfrm>
            <a:off x="0" y="1858930"/>
            <a:ext cx="12192000" cy="2971800"/>
          </a:xfrm>
          <a:prstGeom prst="rect">
            <a:avLst/>
          </a:prstGeom>
        </p:spPr>
      </p:pic>
      <p:sp>
        <p:nvSpPr>
          <p:cNvPr id="6" name="TextBox 11"/>
          <p:cNvSpPr txBox="1"/>
          <p:nvPr/>
        </p:nvSpPr>
        <p:spPr>
          <a:xfrm>
            <a:off x="4913137" y="2591015"/>
            <a:ext cx="2365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7F2E30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Part.2</a:t>
            </a:r>
            <a:endParaRPr lang="zh-CN" altLang="en-US" sz="5400" b="1" dirty="0">
              <a:solidFill>
                <a:srgbClr val="7F2E30"/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8" name="Subtitle 9"/>
          <p:cNvSpPr txBox="1"/>
          <p:nvPr/>
        </p:nvSpPr>
        <p:spPr>
          <a:xfrm>
            <a:off x="3750195" y="3514345"/>
            <a:ext cx="4912542" cy="947053"/>
          </a:xfrm>
          <a:prstGeom prst="rect">
            <a:avLst/>
          </a:prstGeom>
        </p:spPr>
        <p:txBody>
          <a:bodyPr vert="horz" wrap="square" lIns="102742" tIns="51371" rIns="102742" bIns="51371" rtlCol="0">
            <a:spAutoFit/>
          </a:bodyPr>
          <a:lstStyle>
            <a:defPPr>
              <a:defRPr lang="zh-CN"/>
            </a:defPPr>
            <a:lvl1pPr indent="0" algn="r" defTabSz="1087755">
              <a:lnSpc>
                <a:spcPct val="100000"/>
              </a:lnSpc>
              <a:spcBef>
                <a:spcPct val="20000"/>
              </a:spcBef>
              <a:buFont typeface="Arial" panose="020B0604020202020204"/>
              <a:buNone/>
              <a:defRPr sz="2000">
                <a:solidFill>
                  <a:schemeClr val="accent2"/>
                </a:solidFill>
                <a:latin typeface="微软雅黑"/>
                <a:ea typeface="微软雅黑"/>
                <a:cs typeface="Open Sans Light"/>
              </a:defRPr>
            </a:lvl1pPr>
            <a:lvl2pPr marL="1087755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2pPr>
            <a:lvl3pPr marL="2174875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3pPr>
            <a:lvl4pPr marL="3262630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4pPr>
            <a:lvl5pPr marL="4349750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5pPr>
            <a:lvl6pPr marL="5437505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4625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2380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699500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zh-CN" altLang="en-US" sz="2400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清扫策略发展里程碑与关键贡献</a:t>
            </a:r>
          </a:p>
          <a:p>
            <a:pPr algn="ctr">
              <a:defRPr/>
            </a:pPr>
            <a:r>
              <a:rPr lang="en-US" altLang="zh-CN" sz="1400" dirty="0">
                <a:solidFill>
                  <a:srgbClr val="3C3C3C"/>
                </a:solidFill>
              </a:rPr>
              <a:t>Development Milestones and Key Contributions of the Cleaning Strategy</a:t>
            </a:r>
            <a:endParaRPr lang="en-US" sz="1400" kern="0" dirty="0">
              <a:solidFill>
                <a:srgbClr val="3C3C3C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24896" y="2029940"/>
            <a:ext cx="2428870" cy="3275714"/>
            <a:chOff x="1024896" y="2029940"/>
            <a:chExt cx="2428870" cy="3275714"/>
          </a:xfrm>
        </p:grpSpPr>
        <p:sp>
          <p:nvSpPr>
            <p:cNvPr id="4" name="Rounded Rectangle 3"/>
            <p:cNvSpPr/>
            <p:nvPr/>
          </p:nvSpPr>
          <p:spPr>
            <a:xfrm>
              <a:off x="1066291" y="2029940"/>
              <a:ext cx="2269165" cy="3275714"/>
            </a:xfrm>
            <a:prstGeom prst="roundRect">
              <a:avLst>
                <a:gd name="adj" fmla="val 4016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66291" y="4412519"/>
              <a:ext cx="2269165" cy="457200"/>
            </a:xfrm>
            <a:prstGeom prst="rect">
              <a:avLst/>
            </a:prstGeom>
            <a:solidFill>
              <a:srgbClr val="36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108509" y="2195103"/>
              <a:ext cx="1847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405848" y="3686595"/>
              <a:ext cx="1613992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Random collision stage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24896" y="4484379"/>
              <a:ext cx="2428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76655"/>
              <a:r>
                <a:rPr lang="zh-CN" altLang="en-US" sz="1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随机碰撞阶段</a:t>
              </a:r>
              <a:r>
                <a:rPr lang="en-US" altLang="zh-CN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(1996-2004</a:t>
              </a:r>
              <a:r>
                <a:rPr lang="zh-CN" altLang="en-US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年</a:t>
              </a:r>
              <a:r>
                <a:rPr lang="en-US" altLang="zh-CN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)</a:t>
              </a:r>
            </a:p>
          </p:txBody>
        </p:sp>
        <p:sp>
          <p:nvSpPr>
            <p:cNvPr id="45" name="Freeform 44"/>
            <p:cNvSpPr/>
            <p:nvPr/>
          </p:nvSpPr>
          <p:spPr>
            <a:xfrm>
              <a:off x="1839250" y="2761602"/>
              <a:ext cx="723246" cy="716984"/>
            </a:xfrm>
            <a:custGeom>
              <a:avLst/>
              <a:gdLst/>
              <a:ahLst/>
              <a:cxnLst/>
              <a:rect l="l" t="t" r="r" b="b"/>
              <a:pathLst>
                <a:path w="206276" h="204490">
                  <a:moveTo>
                    <a:pt x="97334" y="133052"/>
                  </a:moveTo>
                  <a:lnTo>
                    <a:pt x="119212" y="133052"/>
                  </a:lnTo>
                  <a:cubicBezTo>
                    <a:pt x="121593" y="133052"/>
                    <a:pt x="122783" y="134094"/>
                    <a:pt x="122783" y="136178"/>
                  </a:cubicBezTo>
                  <a:cubicBezTo>
                    <a:pt x="122783" y="138559"/>
                    <a:pt x="121593" y="139750"/>
                    <a:pt x="119212" y="139750"/>
                  </a:cubicBezTo>
                  <a:lnTo>
                    <a:pt x="97334" y="139750"/>
                  </a:lnTo>
                  <a:cubicBezTo>
                    <a:pt x="95250" y="139750"/>
                    <a:pt x="94208" y="138559"/>
                    <a:pt x="94208" y="136178"/>
                  </a:cubicBezTo>
                  <a:cubicBezTo>
                    <a:pt x="94208" y="134094"/>
                    <a:pt x="95250" y="133052"/>
                    <a:pt x="97334" y="133052"/>
                  </a:cubicBezTo>
                  <a:close/>
                  <a:moveTo>
                    <a:pt x="71884" y="133052"/>
                  </a:moveTo>
                  <a:lnTo>
                    <a:pt x="84386" y="133052"/>
                  </a:lnTo>
                  <a:cubicBezTo>
                    <a:pt x="86469" y="133052"/>
                    <a:pt x="87511" y="134094"/>
                    <a:pt x="87511" y="136178"/>
                  </a:cubicBezTo>
                  <a:cubicBezTo>
                    <a:pt x="87511" y="138559"/>
                    <a:pt x="86469" y="139750"/>
                    <a:pt x="84386" y="139750"/>
                  </a:cubicBezTo>
                  <a:lnTo>
                    <a:pt x="71884" y="139750"/>
                  </a:lnTo>
                  <a:cubicBezTo>
                    <a:pt x="69801" y="139750"/>
                    <a:pt x="68759" y="138559"/>
                    <a:pt x="68759" y="136178"/>
                  </a:cubicBezTo>
                  <a:cubicBezTo>
                    <a:pt x="68759" y="134094"/>
                    <a:pt x="69801" y="133052"/>
                    <a:pt x="71884" y="133052"/>
                  </a:cubicBezTo>
                  <a:close/>
                  <a:moveTo>
                    <a:pt x="160735" y="117426"/>
                  </a:moveTo>
                  <a:lnTo>
                    <a:pt x="166985" y="117426"/>
                  </a:lnTo>
                  <a:cubicBezTo>
                    <a:pt x="169069" y="117426"/>
                    <a:pt x="170111" y="118467"/>
                    <a:pt x="170111" y="120551"/>
                  </a:cubicBezTo>
                  <a:cubicBezTo>
                    <a:pt x="170111" y="122634"/>
                    <a:pt x="169069" y="123676"/>
                    <a:pt x="166985" y="123676"/>
                  </a:cubicBezTo>
                  <a:lnTo>
                    <a:pt x="160735" y="123676"/>
                  </a:lnTo>
                  <a:cubicBezTo>
                    <a:pt x="158651" y="123676"/>
                    <a:pt x="157609" y="122634"/>
                    <a:pt x="157609" y="120551"/>
                  </a:cubicBezTo>
                  <a:cubicBezTo>
                    <a:pt x="157609" y="118467"/>
                    <a:pt x="158651" y="117426"/>
                    <a:pt x="160735" y="117426"/>
                  </a:cubicBezTo>
                  <a:close/>
                  <a:moveTo>
                    <a:pt x="116086" y="117426"/>
                  </a:moveTo>
                  <a:lnTo>
                    <a:pt x="147787" y="117426"/>
                  </a:lnTo>
                  <a:cubicBezTo>
                    <a:pt x="150168" y="117426"/>
                    <a:pt x="151358" y="118467"/>
                    <a:pt x="151358" y="120551"/>
                  </a:cubicBezTo>
                  <a:cubicBezTo>
                    <a:pt x="151358" y="122634"/>
                    <a:pt x="150168" y="123676"/>
                    <a:pt x="147787" y="123676"/>
                  </a:cubicBezTo>
                  <a:lnTo>
                    <a:pt x="116086" y="123676"/>
                  </a:lnTo>
                  <a:cubicBezTo>
                    <a:pt x="114003" y="123676"/>
                    <a:pt x="112961" y="122634"/>
                    <a:pt x="112961" y="120551"/>
                  </a:cubicBezTo>
                  <a:cubicBezTo>
                    <a:pt x="112961" y="118467"/>
                    <a:pt x="114003" y="117426"/>
                    <a:pt x="116086" y="117426"/>
                  </a:cubicBezTo>
                  <a:close/>
                  <a:moveTo>
                    <a:pt x="71884" y="117426"/>
                  </a:moveTo>
                  <a:lnTo>
                    <a:pt x="103585" y="117426"/>
                  </a:lnTo>
                  <a:cubicBezTo>
                    <a:pt x="105668" y="117426"/>
                    <a:pt x="106710" y="118467"/>
                    <a:pt x="106710" y="120551"/>
                  </a:cubicBezTo>
                  <a:cubicBezTo>
                    <a:pt x="106710" y="122634"/>
                    <a:pt x="105668" y="123676"/>
                    <a:pt x="103585" y="123676"/>
                  </a:cubicBezTo>
                  <a:lnTo>
                    <a:pt x="71884" y="123676"/>
                  </a:lnTo>
                  <a:cubicBezTo>
                    <a:pt x="69801" y="123676"/>
                    <a:pt x="68759" y="122634"/>
                    <a:pt x="68759" y="120551"/>
                  </a:cubicBezTo>
                  <a:cubicBezTo>
                    <a:pt x="68759" y="118467"/>
                    <a:pt x="69801" y="117426"/>
                    <a:pt x="71884" y="117426"/>
                  </a:cubicBezTo>
                  <a:close/>
                  <a:moveTo>
                    <a:pt x="135285" y="98227"/>
                  </a:moveTo>
                  <a:lnTo>
                    <a:pt x="166985" y="98227"/>
                  </a:lnTo>
                  <a:cubicBezTo>
                    <a:pt x="169069" y="98227"/>
                    <a:pt x="170111" y="99268"/>
                    <a:pt x="170111" y="101352"/>
                  </a:cubicBezTo>
                  <a:cubicBezTo>
                    <a:pt x="170111" y="103436"/>
                    <a:pt x="169069" y="104477"/>
                    <a:pt x="166985" y="104477"/>
                  </a:cubicBezTo>
                  <a:lnTo>
                    <a:pt x="135285" y="104477"/>
                  </a:lnTo>
                  <a:cubicBezTo>
                    <a:pt x="133201" y="104477"/>
                    <a:pt x="132160" y="103436"/>
                    <a:pt x="132160" y="101352"/>
                  </a:cubicBezTo>
                  <a:cubicBezTo>
                    <a:pt x="132160" y="99268"/>
                    <a:pt x="133201" y="98227"/>
                    <a:pt x="135285" y="98227"/>
                  </a:cubicBezTo>
                  <a:close/>
                  <a:moveTo>
                    <a:pt x="97334" y="98227"/>
                  </a:moveTo>
                  <a:lnTo>
                    <a:pt x="122783" y="98227"/>
                  </a:lnTo>
                  <a:cubicBezTo>
                    <a:pt x="124867" y="98227"/>
                    <a:pt x="125909" y="99268"/>
                    <a:pt x="125909" y="101352"/>
                  </a:cubicBezTo>
                  <a:cubicBezTo>
                    <a:pt x="125909" y="103436"/>
                    <a:pt x="124867" y="104477"/>
                    <a:pt x="122783" y="104477"/>
                  </a:cubicBezTo>
                  <a:lnTo>
                    <a:pt x="97334" y="104477"/>
                  </a:lnTo>
                  <a:cubicBezTo>
                    <a:pt x="95250" y="104477"/>
                    <a:pt x="94208" y="103436"/>
                    <a:pt x="94208" y="101352"/>
                  </a:cubicBezTo>
                  <a:cubicBezTo>
                    <a:pt x="94208" y="99268"/>
                    <a:pt x="95250" y="98227"/>
                    <a:pt x="97334" y="98227"/>
                  </a:cubicBezTo>
                  <a:close/>
                  <a:moveTo>
                    <a:pt x="71884" y="98227"/>
                  </a:moveTo>
                  <a:lnTo>
                    <a:pt x="84386" y="98227"/>
                  </a:lnTo>
                  <a:cubicBezTo>
                    <a:pt x="86469" y="98227"/>
                    <a:pt x="87511" y="99268"/>
                    <a:pt x="87511" y="101352"/>
                  </a:cubicBezTo>
                  <a:cubicBezTo>
                    <a:pt x="87511" y="103436"/>
                    <a:pt x="86469" y="104477"/>
                    <a:pt x="84386" y="104477"/>
                  </a:cubicBezTo>
                  <a:lnTo>
                    <a:pt x="71884" y="104477"/>
                  </a:lnTo>
                  <a:cubicBezTo>
                    <a:pt x="69801" y="104477"/>
                    <a:pt x="68759" y="103436"/>
                    <a:pt x="68759" y="101352"/>
                  </a:cubicBezTo>
                  <a:cubicBezTo>
                    <a:pt x="68759" y="99268"/>
                    <a:pt x="69801" y="98227"/>
                    <a:pt x="71884" y="98227"/>
                  </a:cubicBezTo>
                  <a:close/>
                  <a:moveTo>
                    <a:pt x="154484" y="82600"/>
                  </a:moveTo>
                  <a:lnTo>
                    <a:pt x="166985" y="82600"/>
                  </a:lnTo>
                  <a:cubicBezTo>
                    <a:pt x="169069" y="82600"/>
                    <a:pt x="170111" y="83642"/>
                    <a:pt x="170111" y="85725"/>
                  </a:cubicBezTo>
                  <a:cubicBezTo>
                    <a:pt x="170111" y="87809"/>
                    <a:pt x="169069" y="88851"/>
                    <a:pt x="166985" y="88851"/>
                  </a:cubicBezTo>
                  <a:lnTo>
                    <a:pt x="154484" y="88851"/>
                  </a:lnTo>
                  <a:cubicBezTo>
                    <a:pt x="152400" y="88851"/>
                    <a:pt x="151358" y="87809"/>
                    <a:pt x="151358" y="85725"/>
                  </a:cubicBezTo>
                  <a:cubicBezTo>
                    <a:pt x="151358" y="83642"/>
                    <a:pt x="152400" y="82600"/>
                    <a:pt x="154484" y="82600"/>
                  </a:cubicBezTo>
                  <a:close/>
                  <a:moveTo>
                    <a:pt x="109835" y="82600"/>
                  </a:moveTo>
                  <a:lnTo>
                    <a:pt x="141536" y="82600"/>
                  </a:lnTo>
                  <a:cubicBezTo>
                    <a:pt x="143619" y="82600"/>
                    <a:pt x="144661" y="83642"/>
                    <a:pt x="144661" y="85725"/>
                  </a:cubicBezTo>
                  <a:cubicBezTo>
                    <a:pt x="144661" y="87809"/>
                    <a:pt x="143619" y="88851"/>
                    <a:pt x="141536" y="88851"/>
                  </a:cubicBezTo>
                  <a:lnTo>
                    <a:pt x="109835" y="88851"/>
                  </a:lnTo>
                  <a:cubicBezTo>
                    <a:pt x="107752" y="88851"/>
                    <a:pt x="106710" y="87809"/>
                    <a:pt x="106710" y="85725"/>
                  </a:cubicBezTo>
                  <a:cubicBezTo>
                    <a:pt x="106710" y="83642"/>
                    <a:pt x="107752" y="82600"/>
                    <a:pt x="109835" y="82600"/>
                  </a:cubicBezTo>
                  <a:close/>
                  <a:moveTo>
                    <a:pt x="71884" y="82600"/>
                  </a:moveTo>
                  <a:lnTo>
                    <a:pt x="97334" y="82600"/>
                  </a:lnTo>
                  <a:cubicBezTo>
                    <a:pt x="99417" y="82600"/>
                    <a:pt x="100459" y="83642"/>
                    <a:pt x="100459" y="85725"/>
                  </a:cubicBezTo>
                  <a:cubicBezTo>
                    <a:pt x="100459" y="87809"/>
                    <a:pt x="99417" y="88851"/>
                    <a:pt x="97334" y="88851"/>
                  </a:cubicBezTo>
                  <a:lnTo>
                    <a:pt x="71884" y="88851"/>
                  </a:lnTo>
                  <a:cubicBezTo>
                    <a:pt x="69801" y="88851"/>
                    <a:pt x="68759" y="87809"/>
                    <a:pt x="68759" y="85725"/>
                  </a:cubicBezTo>
                  <a:cubicBezTo>
                    <a:pt x="68759" y="83642"/>
                    <a:pt x="69801" y="82600"/>
                    <a:pt x="71884" y="82600"/>
                  </a:cubicBezTo>
                  <a:close/>
                  <a:moveTo>
                    <a:pt x="55811" y="60276"/>
                  </a:moveTo>
                  <a:cubicBezTo>
                    <a:pt x="50453" y="60276"/>
                    <a:pt x="47774" y="63252"/>
                    <a:pt x="47774" y="69205"/>
                  </a:cubicBezTo>
                  <a:lnTo>
                    <a:pt x="47774" y="152251"/>
                  </a:lnTo>
                  <a:cubicBezTo>
                    <a:pt x="47774" y="158502"/>
                    <a:pt x="50453" y="161627"/>
                    <a:pt x="55811" y="161627"/>
                  </a:cubicBezTo>
                  <a:lnTo>
                    <a:pt x="78135" y="161627"/>
                  </a:lnTo>
                  <a:cubicBezTo>
                    <a:pt x="79623" y="161627"/>
                    <a:pt x="81112" y="162372"/>
                    <a:pt x="82600" y="163860"/>
                  </a:cubicBezTo>
                  <a:cubicBezTo>
                    <a:pt x="83790" y="164753"/>
                    <a:pt x="84386" y="166241"/>
                    <a:pt x="84386" y="168325"/>
                  </a:cubicBezTo>
                  <a:lnTo>
                    <a:pt x="83939" y="185738"/>
                  </a:lnTo>
                  <a:lnTo>
                    <a:pt x="115640" y="162967"/>
                  </a:lnTo>
                  <a:cubicBezTo>
                    <a:pt x="116830" y="162074"/>
                    <a:pt x="118021" y="161627"/>
                    <a:pt x="119212" y="161627"/>
                  </a:cubicBezTo>
                  <a:lnTo>
                    <a:pt x="183059" y="161627"/>
                  </a:lnTo>
                  <a:cubicBezTo>
                    <a:pt x="185738" y="161627"/>
                    <a:pt x="188193" y="160734"/>
                    <a:pt x="190426" y="158949"/>
                  </a:cubicBezTo>
                  <a:cubicBezTo>
                    <a:pt x="192658" y="157163"/>
                    <a:pt x="193774" y="154930"/>
                    <a:pt x="193774" y="152251"/>
                  </a:cubicBezTo>
                  <a:lnTo>
                    <a:pt x="193774" y="69205"/>
                  </a:lnTo>
                  <a:cubicBezTo>
                    <a:pt x="193774" y="66824"/>
                    <a:pt x="192658" y="64740"/>
                    <a:pt x="190426" y="62954"/>
                  </a:cubicBezTo>
                  <a:cubicBezTo>
                    <a:pt x="188193" y="61168"/>
                    <a:pt x="185738" y="60276"/>
                    <a:pt x="183059" y="60276"/>
                  </a:cubicBezTo>
                  <a:close/>
                  <a:moveTo>
                    <a:pt x="55811" y="47327"/>
                  </a:moveTo>
                  <a:lnTo>
                    <a:pt x="183059" y="47327"/>
                  </a:lnTo>
                  <a:cubicBezTo>
                    <a:pt x="189310" y="47327"/>
                    <a:pt x="194742" y="49485"/>
                    <a:pt x="199355" y="53801"/>
                  </a:cubicBezTo>
                  <a:cubicBezTo>
                    <a:pt x="203969" y="58117"/>
                    <a:pt x="206276" y="63252"/>
                    <a:pt x="206276" y="69205"/>
                  </a:cubicBezTo>
                  <a:lnTo>
                    <a:pt x="206276" y="152251"/>
                  </a:lnTo>
                  <a:cubicBezTo>
                    <a:pt x="206276" y="158204"/>
                    <a:pt x="203895" y="163413"/>
                    <a:pt x="199132" y="167878"/>
                  </a:cubicBezTo>
                  <a:cubicBezTo>
                    <a:pt x="194370" y="172343"/>
                    <a:pt x="189012" y="174576"/>
                    <a:pt x="183059" y="174576"/>
                  </a:cubicBezTo>
                  <a:lnTo>
                    <a:pt x="121444" y="174576"/>
                  </a:lnTo>
                  <a:lnTo>
                    <a:pt x="80814" y="203597"/>
                  </a:lnTo>
                  <a:cubicBezTo>
                    <a:pt x="79623" y="204192"/>
                    <a:pt x="78433" y="204490"/>
                    <a:pt x="77242" y="204490"/>
                  </a:cubicBezTo>
                  <a:cubicBezTo>
                    <a:pt x="76051" y="204490"/>
                    <a:pt x="75158" y="204341"/>
                    <a:pt x="74563" y="204044"/>
                  </a:cubicBezTo>
                  <a:cubicBezTo>
                    <a:pt x="72182" y="202555"/>
                    <a:pt x="70991" y="200620"/>
                    <a:pt x="70991" y="198239"/>
                  </a:cubicBezTo>
                  <a:lnTo>
                    <a:pt x="71438" y="174576"/>
                  </a:lnTo>
                  <a:lnTo>
                    <a:pt x="55811" y="174576"/>
                  </a:lnTo>
                  <a:cubicBezTo>
                    <a:pt x="49858" y="174576"/>
                    <a:pt x="44872" y="172418"/>
                    <a:pt x="40854" y="168102"/>
                  </a:cubicBezTo>
                  <a:cubicBezTo>
                    <a:pt x="36835" y="163785"/>
                    <a:pt x="34826" y="158502"/>
                    <a:pt x="34826" y="152251"/>
                  </a:cubicBezTo>
                  <a:lnTo>
                    <a:pt x="34826" y="69205"/>
                  </a:lnTo>
                  <a:cubicBezTo>
                    <a:pt x="34826" y="63252"/>
                    <a:pt x="36835" y="58117"/>
                    <a:pt x="40854" y="53801"/>
                  </a:cubicBezTo>
                  <a:cubicBezTo>
                    <a:pt x="44872" y="49485"/>
                    <a:pt x="49858" y="47327"/>
                    <a:pt x="55811" y="47327"/>
                  </a:cubicBezTo>
                  <a:close/>
                  <a:moveTo>
                    <a:pt x="20538" y="0"/>
                  </a:moveTo>
                  <a:lnTo>
                    <a:pt x="148233" y="0"/>
                  </a:lnTo>
                  <a:cubicBezTo>
                    <a:pt x="154484" y="0"/>
                    <a:pt x="159916" y="2084"/>
                    <a:pt x="164530" y="6251"/>
                  </a:cubicBezTo>
                  <a:cubicBezTo>
                    <a:pt x="169143" y="10418"/>
                    <a:pt x="171450" y="15478"/>
                    <a:pt x="171450" y="21431"/>
                  </a:cubicBezTo>
                  <a:lnTo>
                    <a:pt x="171450" y="25450"/>
                  </a:lnTo>
                  <a:cubicBezTo>
                    <a:pt x="171450" y="26938"/>
                    <a:pt x="170855" y="28352"/>
                    <a:pt x="169664" y="29691"/>
                  </a:cubicBezTo>
                  <a:cubicBezTo>
                    <a:pt x="168474" y="31031"/>
                    <a:pt x="166985" y="31701"/>
                    <a:pt x="165199" y="31701"/>
                  </a:cubicBezTo>
                  <a:cubicBezTo>
                    <a:pt x="163413" y="31701"/>
                    <a:pt x="161851" y="31031"/>
                    <a:pt x="160511" y="29691"/>
                  </a:cubicBezTo>
                  <a:cubicBezTo>
                    <a:pt x="159172" y="28352"/>
                    <a:pt x="158502" y="26938"/>
                    <a:pt x="158502" y="25450"/>
                  </a:cubicBezTo>
                  <a:lnTo>
                    <a:pt x="158502" y="21431"/>
                  </a:lnTo>
                  <a:cubicBezTo>
                    <a:pt x="158502" y="19050"/>
                    <a:pt x="157460" y="16967"/>
                    <a:pt x="155377" y="15181"/>
                  </a:cubicBezTo>
                  <a:cubicBezTo>
                    <a:pt x="153293" y="13395"/>
                    <a:pt x="150912" y="12502"/>
                    <a:pt x="148233" y="12502"/>
                  </a:cubicBezTo>
                  <a:lnTo>
                    <a:pt x="20538" y="12502"/>
                  </a:lnTo>
                  <a:cubicBezTo>
                    <a:pt x="15181" y="12502"/>
                    <a:pt x="12502" y="15478"/>
                    <a:pt x="12502" y="21431"/>
                  </a:cubicBezTo>
                  <a:lnTo>
                    <a:pt x="12502" y="104477"/>
                  </a:lnTo>
                  <a:cubicBezTo>
                    <a:pt x="12502" y="107156"/>
                    <a:pt x="13246" y="109240"/>
                    <a:pt x="14734" y="110728"/>
                  </a:cubicBezTo>
                  <a:cubicBezTo>
                    <a:pt x="17711" y="113407"/>
                    <a:pt x="17860" y="116384"/>
                    <a:pt x="15181" y="119658"/>
                  </a:cubicBezTo>
                  <a:cubicBezTo>
                    <a:pt x="13692" y="121146"/>
                    <a:pt x="12055" y="121890"/>
                    <a:pt x="10269" y="121890"/>
                  </a:cubicBezTo>
                  <a:cubicBezTo>
                    <a:pt x="8781" y="121890"/>
                    <a:pt x="7442" y="121295"/>
                    <a:pt x="6251" y="120104"/>
                  </a:cubicBezTo>
                  <a:cubicBezTo>
                    <a:pt x="2084" y="116235"/>
                    <a:pt x="0" y="111026"/>
                    <a:pt x="0" y="104477"/>
                  </a:cubicBezTo>
                  <a:lnTo>
                    <a:pt x="0" y="21431"/>
                  </a:lnTo>
                  <a:cubicBezTo>
                    <a:pt x="0" y="15478"/>
                    <a:pt x="1935" y="10418"/>
                    <a:pt x="5804" y="6251"/>
                  </a:cubicBezTo>
                  <a:cubicBezTo>
                    <a:pt x="9674" y="2084"/>
                    <a:pt x="14585" y="0"/>
                    <a:pt x="20538" y="0"/>
                  </a:cubicBezTo>
                  <a:close/>
                </a:path>
              </a:pathLst>
            </a:custGeom>
            <a:solidFill>
              <a:srgbClr val="7F2E3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651823" y="2029940"/>
            <a:ext cx="2428870" cy="3275714"/>
            <a:chOff x="3651822" y="2029940"/>
            <a:chExt cx="2428870" cy="3275714"/>
          </a:xfrm>
        </p:grpSpPr>
        <p:sp>
          <p:nvSpPr>
            <p:cNvPr id="25" name="Rounded Rectangle 24"/>
            <p:cNvSpPr/>
            <p:nvPr/>
          </p:nvSpPr>
          <p:spPr>
            <a:xfrm>
              <a:off x="3663042" y="2029940"/>
              <a:ext cx="2269165" cy="3275714"/>
            </a:xfrm>
            <a:prstGeom prst="roundRect">
              <a:avLst>
                <a:gd name="adj" fmla="val 4016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63042" y="4412519"/>
              <a:ext cx="2269165" cy="457200"/>
            </a:xfrm>
            <a:prstGeom prst="rect">
              <a:avLst/>
            </a:prstGeom>
            <a:solidFill>
              <a:srgbClr val="36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002597" y="3686595"/>
              <a:ext cx="1613992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Planning and obstacle avoidance stage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651822" y="4482892"/>
              <a:ext cx="2428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76655"/>
              <a:r>
                <a:rPr lang="zh-CN" altLang="en-US" sz="1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规划避障阶段</a:t>
              </a:r>
              <a:r>
                <a:rPr lang="en-US" altLang="zh-CN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(2004-2016</a:t>
              </a:r>
              <a:r>
                <a:rPr lang="zh-CN" altLang="en-US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年</a:t>
              </a:r>
              <a:r>
                <a:rPr lang="en-US" altLang="zh-CN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)</a:t>
              </a:r>
            </a:p>
          </p:txBody>
        </p:sp>
        <p:sp>
          <p:nvSpPr>
            <p:cNvPr id="47" name="Freeform 46"/>
            <p:cNvSpPr/>
            <p:nvPr/>
          </p:nvSpPr>
          <p:spPr>
            <a:xfrm>
              <a:off x="4438119" y="2759576"/>
              <a:ext cx="719010" cy="719010"/>
            </a:xfrm>
            <a:custGeom>
              <a:avLst/>
              <a:gdLst/>
              <a:ahLst/>
              <a:cxnLst/>
              <a:rect l="l" t="t" r="r" b="b"/>
              <a:pathLst>
                <a:path w="203597" h="203597">
                  <a:moveTo>
                    <a:pt x="30249" y="120104"/>
                  </a:moveTo>
                  <a:cubicBezTo>
                    <a:pt x="30919" y="120402"/>
                    <a:pt x="31402" y="121146"/>
                    <a:pt x="31700" y="122336"/>
                  </a:cubicBezTo>
                  <a:cubicBezTo>
                    <a:pt x="36165" y="136029"/>
                    <a:pt x="44202" y="147339"/>
                    <a:pt x="55810" y="156269"/>
                  </a:cubicBezTo>
                  <a:cubicBezTo>
                    <a:pt x="57596" y="157460"/>
                    <a:pt x="57894" y="158948"/>
                    <a:pt x="56703" y="160734"/>
                  </a:cubicBezTo>
                  <a:cubicBezTo>
                    <a:pt x="55810" y="161627"/>
                    <a:pt x="54917" y="162073"/>
                    <a:pt x="54024" y="162073"/>
                  </a:cubicBezTo>
                  <a:cubicBezTo>
                    <a:pt x="53429" y="162073"/>
                    <a:pt x="52834" y="161776"/>
                    <a:pt x="52238" y="161180"/>
                  </a:cubicBezTo>
                  <a:cubicBezTo>
                    <a:pt x="39141" y="151358"/>
                    <a:pt x="30361" y="139005"/>
                    <a:pt x="25896" y="124122"/>
                  </a:cubicBezTo>
                  <a:cubicBezTo>
                    <a:pt x="24705" y="122336"/>
                    <a:pt x="25300" y="121146"/>
                    <a:pt x="27682" y="120550"/>
                  </a:cubicBezTo>
                  <a:cubicBezTo>
                    <a:pt x="28724" y="119955"/>
                    <a:pt x="29579" y="119806"/>
                    <a:pt x="30249" y="120104"/>
                  </a:cubicBezTo>
                  <a:close/>
                  <a:moveTo>
                    <a:pt x="25449" y="98673"/>
                  </a:moveTo>
                  <a:cubicBezTo>
                    <a:pt x="27533" y="98673"/>
                    <a:pt x="28575" y="99714"/>
                    <a:pt x="28575" y="101798"/>
                  </a:cubicBezTo>
                  <a:cubicBezTo>
                    <a:pt x="28575" y="104179"/>
                    <a:pt x="28724" y="106114"/>
                    <a:pt x="29021" y="107602"/>
                  </a:cubicBezTo>
                  <a:cubicBezTo>
                    <a:pt x="29021" y="109686"/>
                    <a:pt x="27979" y="110728"/>
                    <a:pt x="25896" y="110728"/>
                  </a:cubicBezTo>
                  <a:lnTo>
                    <a:pt x="25449" y="110728"/>
                  </a:lnTo>
                  <a:cubicBezTo>
                    <a:pt x="23961" y="110728"/>
                    <a:pt x="22919" y="109835"/>
                    <a:pt x="22324" y="108049"/>
                  </a:cubicBezTo>
                  <a:lnTo>
                    <a:pt x="22324" y="101798"/>
                  </a:lnTo>
                  <a:cubicBezTo>
                    <a:pt x="22324" y="99714"/>
                    <a:pt x="23366" y="98673"/>
                    <a:pt x="25449" y="98673"/>
                  </a:cubicBezTo>
                  <a:close/>
                  <a:moveTo>
                    <a:pt x="36611" y="41076"/>
                  </a:moveTo>
                  <a:cubicBezTo>
                    <a:pt x="20538" y="58043"/>
                    <a:pt x="12501" y="78283"/>
                    <a:pt x="12501" y="101798"/>
                  </a:cubicBezTo>
                  <a:cubicBezTo>
                    <a:pt x="12501" y="126206"/>
                    <a:pt x="21282" y="147191"/>
                    <a:pt x="38844" y="164752"/>
                  </a:cubicBezTo>
                  <a:cubicBezTo>
                    <a:pt x="56406" y="182314"/>
                    <a:pt x="77390" y="191095"/>
                    <a:pt x="101798" y="191095"/>
                  </a:cubicBezTo>
                  <a:cubicBezTo>
                    <a:pt x="125313" y="191095"/>
                    <a:pt x="145628" y="183058"/>
                    <a:pt x="162743" y="166985"/>
                  </a:cubicBezTo>
                  <a:cubicBezTo>
                    <a:pt x="179858" y="150911"/>
                    <a:pt x="189160" y="131117"/>
                    <a:pt x="190649" y="107602"/>
                  </a:cubicBezTo>
                  <a:cubicBezTo>
                    <a:pt x="190946" y="106709"/>
                    <a:pt x="191095" y="104923"/>
                    <a:pt x="191095" y="102245"/>
                  </a:cubicBezTo>
                  <a:lnTo>
                    <a:pt x="101798" y="104923"/>
                  </a:lnTo>
                  <a:lnTo>
                    <a:pt x="100459" y="104923"/>
                  </a:lnTo>
                  <a:lnTo>
                    <a:pt x="100459" y="104477"/>
                  </a:lnTo>
                  <a:cubicBezTo>
                    <a:pt x="100161" y="104477"/>
                    <a:pt x="99863" y="104328"/>
                    <a:pt x="99566" y="104030"/>
                  </a:cubicBezTo>
                  <a:close/>
                  <a:moveTo>
                    <a:pt x="165199" y="39290"/>
                  </a:moveTo>
                  <a:lnTo>
                    <a:pt x="109388" y="98226"/>
                  </a:lnTo>
                  <a:lnTo>
                    <a:pt x="190649" y="95994"/>
                  </a:lnTo>
                  <a:cubicBezTo>
                    <a:pt x="189160" y="73670"/>
                    <a:pt x="180677" y="54768"/>
                    <a:pt x="165199" y="39290"/>
                  </a:cubicBezTo>
                  <a:close/>
                  <a:moveTo>
                    <a:pt x="101798" y="12501"/>
                  </a:moveTo>
                  <a:cubicBezTo>
                    <a:pt x="78283" y="12501"/>
                    <a:pt x="58043" y="20538"/>
                    <a:pt x="41076" y="36611"/>
                  </a:cubicBezTo>
                  <a:lnTo>
                    <a:pt x="101798" y="97333"/>
                  </a:lnTo>
                  <a:lnTo>
                    <a:pt x="160734" y="34825"/>
                  </a:lnTo>
                  <a:cubicBezTo>
                    <a:pt x="156567" y="31551"/>
                    <a:pt x="153590" y="29319"/>
                    <a:pt x="151804" y="28128"/>
                  </a:cubicBezTo>
                  <a:cubicBezTo>
                    <a:pt x="136922" y="17710"/>
                    <a:pt x="120253" y="12501"/>
                    <a:pt x="101798" y="12501"/>
                  </a:cubicBezTo>
                  <a:close/>
                  <a:moveTo>
                    <a:pt x="101798" y="0"/>
                  </a:moveTo>
                  <a:cubicBezTo>
                    <a:pt x="122932" y="0"/>
                    <a:pt x="141982" y="5804"/>
                    <a:pt x="158948" y="17412"/>
                  </a:cubicBezTo>
                  <a:cubicBezTo>
                    <a:pt x="172938" y="26937"/>
                    <a:pt x="183877" y="39141"/>
                    <a:pt x="191765" y="54024"/>
                  </a:cubicBezTo>
                  <a:cubicBezTo>
                    <a:pt x="199653" y="68907"/>
                    <a:pt x="203597" y="84832"/>
                    <a:pt x="203597" y="101798"/>
                  </a:cubicBezTo>
                  <a:lnTo>
                    <a:pt x="203597" y="108942"/>
                  </a:lnTo>
                  <a:cubicBezTo>
                    <a:pt x="201811" y="135433"/>
                    <a:pt x="191095" y="157832"/>
                    <a:pt x="171450" y="176138"/>
                  </a:cubicBezTo>
                  <a:cubicBezTo>
                    <a:pt x="151804" y="194444"/>
                    <a:pt x="128587" y="203597"/>
                    <a:pt x="101798" y="203597"/>
                  </a:cubicBezTo>
                  <a:cubicBezTo>
                    <a:pt x="73818" y="203597"/>
                    <a:pt x="49857" y="193625"/>
                    <a:pt x="29914" y="173682"/>
                  </a:cubicBezTo>
                  <a:cubicBezTo>
                    <a:pt x="9971" y="153739"/>
                    <a:pt x="0" y="129778"/>
                    <a:pt x="0" y="101798"/>
                  </a:cubicBezTo>
                  <a:cubicBezTo>
                    <a:pt x="0" y="73818"/>
                    <a:pt x="9971" y="49857"/>
                    <a:pt x="29914" y="29914"/>
                  </a:cubicBezTo>
                  <a:cubicBezTo>
                    <a:pt x="49857" y="9971"/>
                    <a:pt x="73818" y="0"/>
                    <a:pt x="101798" y="0"/>
                  </a:cubicBezTo>
                  <a:close/>
                </a:path>
              </a:pathLst>
            </a:custGeom>
            <a:solidFill>
              <a:srgbClr val="7F2E3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6259793" y="2029940"/>
            <a:ext cx="2428870" cy="3275714"/>
            <a:chOff x="6259793" y="2029940"/>
            <a:chExt cx="2428870" cy="3275714"/>
          </a:xfrm>
        </p:grpSpPr>
        <p:sp>
          <p:nvSpPr>
            <p:cNvPr id="31" name="Rounded Rectangle 30"/>
            <p:cNvSpPr/>
            <p:nvPr/>
          </p:nvSpPr>
          <p:spPr>
            <a:xfrm>
              <a:off x="6259793" y="2029940"/>
              <a:ext cx="2269165" cy="3275714"/>
            </a:xfrm>
            <a:prstGeom prst="roundRect">
              <a:avLst>
                <a:gd name="adj" fmla="val 4016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259793" y="4412519"/>
              <a:ext cx="2269165" cy="457200"/>
            </a:xfrm>
            <a:prstGeom prst="rect">
              <a:avLst/>
            </a:prstGeom>
            <a:solidFill>
              <a:srgbClr val="36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641693" y="3667334"/>
              <a:ext cx="1613992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The intelligent interaction stage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259793" y="4482892"/>
              <a:ext cx="2428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76655"/>
              <a:r>
                <a:rPr lang="zh-CN" altLang="en-US" sz="1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智能交互阶段</a:t>
              </a:r>
              <a:r>
                <a:rPr lang="en-US" altLang="zh-CN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(201</a:t>
              </a:r>
              <a:r>
                <a:rPr lang="en-US" altLang="zh-CN" sz="1400" dirty="0">
                  <a:solidFill>
                    <a:schemeClr val="bg1"/>
                  </a:solidFill>
                  <a:latin typeface="幼圆" charset="0"/>
                  <a:ea typeface="幼圆" charset="0"/>
                </a:rPr>
                <a:t>6</a:t>
              </a:r>
              <a:r>
                <a:rPr lang="en-US" altLang="zh-CN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-2025</a:t>
              </a:r>
              <a:r>
                <a:rPr lang="zh-CN" altLang="en-US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年</a:t>
              </a:r>
              <a:r>
                <a:rPr lang="en-US" altLang="zh-CN" sz="14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)</a:t>
              </a:r>
            </a:p>
          </p:txBody>
        </p:sp>
        <p:sp>
          <p:nvSpPr>
            <p:cNvPr id="49" name="Freeform 48"/>
            <p:cNvSpPr/>
            <p:nvPr/>
          </p:nvSpPr>
          <p:spPr>
            <a:xfrm>
              <a:off x="7036225" y="2751717"/>
              <a:ext cx="716300" cy="719010"/>
            </a:xfrm>
            <a:custGeom>
              <a:avLst/>
              <a:gdLst/>
              <a:ahLst/>
              <a:cxnLst/>
              <a:rect l="l" t="t" r="r" b="b"/>
              <a:pathLst>
                <a:path w="204608" h="205382">
                  <a:moveTo>
                    <a:pt x="46881" y="32147"/>
                  </a:moveTo>
                  <a:cubicBezTo>
                    <a:pt x="48667" y="31254"/>
                    <a:pt x="50155" y="31551"/>
                    <a:pt x="51346" y="33039"/>
                  </a:cubicBezTo>
                  <a:cubicBezTo>
                    <a:pt x="52536" y="34825"/>
                    <a:pt x="52239" y="36314"/>
                    <a:pt x="50453" y="37504"/>
                  </a:cubicBezTo>
                  <a:cubicBezTo>
                    <a:pt x="37356" y="45541"/>
                    <a:pt x="30807" y="57298"/>
                    <a:pt x="30807" y="72777"/>
                  </a:cubicBezTo>
                  <a:cubicBezTo>
                    <a:pt x="30807" y="74860"/>
                    <a:pt x="29766" y="75902"/>
                    <a:pt x="27682" y="75902"/>
                  </a:cubicBezTo>
                  <a:cubicBezTo>
                    <a:pt x="25599" y="75902"/>
                    <a:pt x="24557" y="74860"/>
                    <a:pt x="24557" y="72777"/>
                  </a:cubicBezTo>
                  <a:cubicBezTo>
                    <a:pt x="24557" y="54917"/>
                    <a:pt x="31998" y="41374"/>
                    <a:pt x="46881" y="32147"/>
                  </a:cubicBezTo>
                  <a:close/>
                  <a:moveTo>
                    <a:pt x="61168" y="25896"/>
                  </a:moveTo>
                  <a:cubicBezTo>
                    <a:pt x="63252" y="25300"/>
                    <a:pt x="64591" y="26045"/>
                    <a:pt x="65187" y="28128"/>
                  </a:cubicBezTo>
                  <a:cubicBezTo>
                    <a:pt x="65782" y="30212"/>
                    <a:pt x="65038" y="31551"/>
                    <a:pt x="62954" y="32147"/>
                  </a:cubicBezTo>
                  <a:cubicBezTo>
                    <a:pt x="62657" y="32147"/>
                    <a:pt x="62136" y="32221"/>
                    <a:pt x="61392" y="32370"/>
                  </a:cubicBezTo>
                  <a:cubicBezTo>
                    <a:pt x="60648" y="32519"/>
                    <a:pt x="60127" y="32742"/>
                    <a:pt x="59829" y="33039"/>
                  </a:cubicBezTo>
                  <a:lnTo>
                    <a:pt x="58936" y="33039"/>
                  </a:lnTo>
                  <a:cubicBezTo>
                    <a:pt x="57448" y="33039"/>
                    <a:pt x="56406" y="32295"/>
                    <a:pt x="55811" y="30807"/>
                  </a:cubicBezTo>
                  <a:cubicBezTo>
                    <a:pt x="55215" y="29319"/>
                    <a:pt x="55811" y="27979"/>
                    <a:pt x="57597" y="26789"/>
                  </a:cubicBezTo>
                  <a:cubicBezTo>
                    <a:pt x="58787" y="26789"/>
                    <a:pt x="59978" y="26491"/>
                    <a:pt x="61168" y="25896"/>
                  </a:cubicBezTo>
                  <a:close/>
                  <a:moveTo>
                    <a:pt x="72331" y="12948"/>
                  </a:moveTo>
                  <a:cubicBezTo>
                    <a:pt x="55959" y="12948"/>
                    <a:pt x="41895" y="18752"/>
                    <a:pt x="30138" y="30361"/>
                  </a:cubicBezTo>
                  <a:cubicBezTo>
                    <a:pt x="18380" y="41969"/>
                    <a:pt x="12502" y="55959"/>
                    <a:pt x="12502" y="72330"/>
                  </a:cubicBezTo>
                  <a:cubicBezTo>
                    <a:pt x="12502" y="88999"/>
                    <a:pt x="18380" y="103138"/>
                    <a:pt x="30138" y="114746"/>
                  </a:cubicBezTo>
                  <a:cubicBezTo>
                    <a:pt x="41895" y="126355"/>
                    <a:pt x="55959" y="132159"/>
                    <a:pt x="72331" y="132159"/>
                  </a:cubicBezTo>
                  <a:cubicBezTo>
                    <a:pt x="82451" y="132159"/>
                    <a:pt x="91678" y="129778"/>
                    <a:pt x="100013" y="125015"/>
                  </a:cubicBezTo>
                  <a:cubicBezTo>
                    <a:pt x="102691" y="123527"/>
                    <a:pt x="105222" y="123973"/>
                    <a:pt x="107603" y="126355"/>
                  </a:cubicBezTo>
                  <a:lnTo>
                    <a:pt x="132606" y="151358"/>
                  </a:lnTo>
                  <a:lnTo>
                    <a:pt x="134838" y="149572"/>
                  </a:lnTo>
                  <a:cubicBezTo>
                    <a:pt x="137517" y="148084"/>
                    <a:pt x="140047" y="148232"/>
                    <a:pt x="142429" y="150018"/>
                  </a:cubicBezTo>
                  <a:lnTo>
                    <a:pt x="150912" y="157162"/>
                  </a:lnTo>
                  <a:cubicBezTo>
                    <a:pt x="153293" y="159543"/>
                    <a:pt x="153740" y="161925"/>
                    <a:pt x="152251" y="164306"/>
                  </a:cubicBezTo>
                  <a:lnTo>
                    <a:pt x="150465" y="169217"/>
                  </a:lnTo>
                  <a:lnTo>
                    <a:pt x="157609" y="176361"/>
                  </a:lnTo>
                  <a:lnTo>
                    <a:pt x="167878" y="177254"/>
                  </a:lnTo>
                  <a:cubicBezTo>
                    <a:pt x="170259" y="177254"/>
                    <a:pt x="172045" y="178593"/>
                    <a:pt x="173236" y="181272"/>
                  </a:cubicBezTo>
                  <a:lnTo>
                    <a:pt x="176808" y="191541"/>
                  </a:lnTo>
                  <a:lnTo>
                    <a:pt x="191542" y="187970"/>
                  </a:lnTo>
                  <a:lnTo>
                    <a:pt x="189309" y="169217"/>
                  </a:lnTo>
                  <a:lnTo>
                    <a:pt x="126802" y="106263"/>
                  </a:lnTo>
                  <a:cubicBezTo>
                    <a:pt x="124420" y="103882"/>
                    <a:pt x="123974" y="101500"/>
                    <a:pt x="125462" y="99119"/>
                  </a:cubicBezTo>
                  <a:cubicBezTo>
                    <a:pt x="129629" y="91082"/>
                    <a:pt x="131713" y="82153"/>
                    <a:pt x="131713" y="72330"/>
                  </a:cubicBezTo>
                  <a:cubicBezTo>
                    <a:pt x="131713" y="55959"/>
                    <a:pt x="125909" y="41969"/>
                    <a:pt x="114300" y="30361"/>
                  </a:cubicBezTo>
                  <a:cubicBezTo>
                    <a:pt x="102691" y="18752"/>
                    <a:pt x="88702" y="12948"/>
                    <a:pt x="72331" y="12948"/>
                  </a:cubicBezTo>
                  <a:close/>
                  <a:moveTo>
                    <a:pt x="72331" y="0"/>
                  </a:moveTo>
                  <a:cubicBezTo>
                    <a:pt x="92274" y="0"/>
                    <a:pt x="109314" y="7069"/>
                    <a:pt x="123453" y="21208"/>
                  </a:cubicBezTo>
                  <a:cubicBezTo>
                    <a:pt x="137592" y="35346"/>
                    <a:pt x="144661" y="52387"/>
                    <a:pt x="144661" y="72330"/>
                  </a:cubicBezTo>
                  <a:cubicBezTo>
                    <a:pt x="144661" y="81260"/>
                    <a:pt x="142726" y="90636"/>
                    <a:pt x="138857" y="100459"/>
                  </a:cubicBezTo>
                  <a:lnTo>
                    <a:pt x="200025" y="161627"/>
                  </a:lnTo>
                  <a:cubicBezTo>
                    <a:pt x="201216" y="162818"/>
                    <a:pt x="201811" y="164157"/>
                    <a:pt x="201811" y="165645"/>
                  </a:cubicBezTo>
                  <a:lnTo>
                    <a:pt x="204490" y="192434"/>
                  </a:lnTo>
                  <a:cubicBezTo>
                    <a:pt x="205085" y="196304"/>
                    <a:pt x="203448" y="198536"/>
                    <a:pt x="199579" y="199132"/>
                  </a:cubicBezTo>
                  <a:lnTo>
                    <a:pt x="174129" y="204936"/>
                  </a:lnTo>
                  <a:cubicBezTo>
                    <a:pt x="173831" y="205234"/>
                    <a:pt x="173385" y="205382"/>
                    <a:pt x="172790" y="205382"/>
                  </a:cubicBezTo>
                  <a:cubicBezTo>
                    <a:pt x="169515" y="205382"/>
                    <a:pt x="167432" y="203894"/>
                    <a:pt x="166539" y="200918"/>
                  </a:cubicBezTo>
                  <a:lnTo>
                    <a:pt x="162967" y="189309"/>
                  </a:lnTo>
                  <a:lnTo>
                    <a:pt x="154484" y="188863"/>
                  </a:lnTo>
                  <a:cubicBezTo>
                    <a:pt x="152698" y="188863"/>
                    <a:pt x="151358" y="188267"/>
                    <a:pt x="150465" y="187077"/>
                  </a:cubicBezTo>
                  <a:lnTo>
                    <a:pt x="138410" y="175022"/>
                  </a:lnTo>
                  <a:cubicBezTo>
                    <a:pt x="136624" y="173236"/>
                    <a:pt x="136178" y="170854"/>
                    <a:pt x="137071" y="167878"/>
                  </a:cubicBezTo>
                  <a:lnTo>
                    <a:pt x="138857" y="163859"/>
                  </a:lnTo>
                  <a:lnTo>
                    <a:pt x="137964" y="162966"/>
                  </a:lnTo>
                  <a:lnTo>
                    <a:pt x="135731" y="164752"/>
                  </a:lnTo>
                  <a:cubicBezTo>
                    <a:pt x="132755" y="166538"/>
                    <a:pt x="129927" y="166390"/>
                    <a:pt x="127248" y="164306"/>
                  </a:cubicBezTo>
                  <a:lnTo>
                    <a:pt x="101799" y="138410"/>
                  </a:lnTo>
                  <a:cubicBezTo>
                    <a:pt x="91976" y="142577"/>
                    <a:pt x="82153" y="144661"/>
                    <a:pt x="72331" y="144661"/>
                  </a:cubicBezTo>
                  <a:cubicBezTo>
                    <a:pt x="52388" y="144661"/>
                    <a:pt x="35347" y="137666"/>
                    <a:pt x="21208" y="123676"/>
                  </a:cubicBezTo>
                  <a:cubicBezTo>
                    <a:pt x="7069" y="109686"/>
                    <a:pt x="0" y="92571"/>
                    <a:pt x="0" y="72330"/>
                  </a:cubicBezTo>
                  <a:cubicBezTo>
                    <a:pt x="0" y="52387"/>
                    <a:pt x="7069" y="35346"/>
                    <a:pt x="21208" y="21208"/>
                  </a:cubicBezTo>
                  <a:cubicBezTo>
                    <a:pt x="35347" y="7069"/>
                    <a:pt x="52388" y="0"/>
                    <a:pt x="72331" y="0"/>
                  </a:cubicBezTo>
                  <a:close/>
                </a:path>
              </a:pathLst>
            </a:custGeom>
            <a:solidFill>
              <a:srgbClr val="7F2E3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8856544" y="2029940"/>
            <a:ext cx="2269165" cy="3275714"/>
            <a:chOff x="8856544" y="2029940"/>
            <a:chExt cx="2269165" cy="3275714"/>
          </a:xfrm>
        </p:grpSpPr>
        <p:sp>
          <p:nvSpPr>
            <p:cNvPr id="37" name="Rounded Rectangle 36"/>
            <p:cNvSpPr/>
            <p:nvPr/>
          </p:nvSpPr>
          <p:spPr>
            <a:xfrm>
              <a:off x="8856544" y="2029940"/>
              <a:ext cx="2269165" cy="3275714"/>
            </a:xfrm>
            <a:prstGeom prst="roundRect">
              <a:avLst>
                <a:gd name="adj" fmla="val 4016"/>
              </a:avLst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856544" y="4412519"/>
              <a:ext cx="2269165" cy="457200"/>
            </a:xfrm>
            <a:prstGeom prst="rect">
              <a:avLst/>
            </a:prstGeom>
            <a:solidFill>
              <a:srgbClr val="36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212328" y="3689764"/>
              <a:ext cx="1613992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Contributing enterprises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356936" y="4482891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176655"/>
              <a:r>
                <a:rPr lang="zh-CN" altLang="en-US" sz="1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重要贡献企业</a:t>
              </a:r>
              <a:endParaRPr lang="en-US" altLang="zh-CN" sz="1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9630698" y="2751717"/>
              <a:ext cx="714360" cy="705079"/>
            </a:xfrm>
            <a:custGeom>
              <a:avLst/>
              <a:gdLst/>
              <a:ahLst/>
              <a:cxnLst/>
              <a:rect l="l" t="t" r="r" b="b"/>
              <a:pathLst>
                <a:path w="206276" h="203596">
                  <a:moveTo>
                    <a:pt x="95548" y="108049"/>
                  </a:moveTo>
                  <a:cubicBezTo>
                    <a:pt x="93762" y="108049"/>
                    <a:pt x="92199" y="108719"/>
                    <a:pt x="90860" y="110058"/>
                  </a:cubicBezTo>
                  <a:cubicBezTo>
                    <a:pt x="89520" y="111397"/>
                    <a:pt x="88850" y="112960"/>
                    <a:pt x="88850" y="114746"/>
                  </a:cubicBezTo>
                  <a:lnTo>
                    <a:pt x="88850" y="129927"/>
                  </a:lnTo>
                  <a:cubicBezTo>
                    <a:pt x="88850" y="134391"/>
                    <a:pt x="91083" y="136624"/>
                    <a:pt x="95548" y="136624"/>
                  </a:cubicBezTo>
                  <a:lnTo>
                    <a:pt x="110728" y="136624"/>
                  </a:lnTo>
                  <a:cubicBezTo>
                    <a:pt x="115193" y="136624"/>
                    <a:pt x="117426" y="134391"/>
                    <a:pt x="117426" y="129927"/>
                  </a:cubicBezTo>
                  <a:lnTo>
                    <a:pt x="117426" y="114746"/>
                  </a:lnTo>
                  <a:cubicBezTo>
                    <a:pt x="117426" y="112960"/>
                    <a:pt x="116756" y="111397"/>
                    <a:pt x="115416" y="110058"/>
                  </a:cubicBezTo>
                  <a:cubicBezTo>
                    <a:pt x="114077" y="108719"/>
                    <a:pt x="112514" y="108049"/>
                    <a:pt x="110728" y="108049"/>
                  </a:cubicBezTo>
                  <a:close/>
                  <a:moveTo>
                    <a:pt x="21878" y="54024"/>
                  </a:moveTo>
                  <a:cubicBezTo>
                    <a:pt x="19497" y="54024"/>
                    <a:pt x="17339" y="54992"/>
                    <a:pt x="15404" y="56926"/>
                  </a:cubicBezTo>
                  <a:cubicBezTo>
                    <a:pt x="13469" y="58861"/>
                    <a:pt x="12502" y="61019"/>
                    <a:pt x="12502" y="63400"/>
                  </a:cubicBezTo>
                  <a:lnTo>
                    <a:pt x="12502" y="117871"/>
                  </a:lnTo>
                  <a:lnTo>
                    <a:pt x="22771" y="117871"/>
                  </a:lnTo>
                  <a:cubicBezTo>
                    <a:pt x="24854" y="117871"/>
                    <a:pt x="25896" y="118913"/>
                    <a:pt x="25896" y="120997"/>
                  </a:cubicBezTo>
                  <a:cubicBezTo>
                    <a:pt x="25896" y="123080"/>
                    <a:pt x="24854" y="124122"/>
                    <a:pt x="22771" y="124122"/>
                  </a:cubicBezTo>
                  <a:lnTo>
                    <a:pt x="12502" y="124122"/>
                  </a:lnTo>
                  <a:lnTo>
                    <a:pt x="12502" y="181272"/>
                  </a:lnTo>
                  <a:cubicBezTo>
                    <a:pt x="12502" y="183951"/>
                    <a:pt x="13469" y="186184"/>
                    <a:pt x="15404" y="187970"/>
                  </a:cubicBezTo>
                  <a:cubicBezTo>
                    <a:pt x="17339" y="189755"/>
                    <a:pt x="19497" y="190648"/>
                    <a:pt x="21878" y="190648"/>
                  </a:cubicBezTo>
                  <a:lnTo>
                    <a:pt x="184398" y="190648"/>
                  </a:lnTo>
                  <a:cubicBezTo>
                    <a:pt x="186779" y="190648"/>
                    <a:pt x="188937" y="189755"/>
                    <a:pt x="190872" y="187970"/>
                  </a:cubicBezTo>
                  <a:cubicBezTo>
                    <a:pt x="192807" y="186184"/>
                    <a:pt x="193774" y="183951"/>
                    <a:pt x="193774" y="181272"/>
                  </a:cubicBezTo>
                  <a:lnTo>
                    <a:pt x="193774" y="124122"/>
                  </a:lnTo>
                  <a:lnTo>
                    <a:pt x="123676" y="124122"/>
                  </a:lnTo>
                  <a:lnTo>
                    <a:pt x="123676" y="130373"/>
                  </a:lnTo>
                  <a:cubicBezTo>
                    <a:pt x="123676" y="133647"/>
                    <a:pt x="122411" y="136549"/>
                    <a:pt x="119881" y="139079"/>
                  </a:cubicBezTo>
                  <a:cubicBezTo>
                    <a:pt x="117351" y="141610"/>
                    <a:pt x="114300" y="142875"/>
                    <a:pt x="110728" y="142875"/>
                  </a:cubicBezTo>
                  <a:lnTo>
                    <a:pt x="95548" y="142875"/>
                  </a:lnTo>
                  <a:cubicBezTo>
                    <a:pt x="91976" y="142875"/>
                    <a:pt x="88925" y="141610"/>
                    <a:pt x="86395" y="139079"/>
                  </a:cubicBezTo>
                  <a:cubicBezTo>
                    <a:pt x="83865" y="136549"/>
                    <a:pt x="82600" y="133647"/>
                    <a:pt x="82600" y="130373"/>
                  </a:cubicBezTo>
                  <a:lnTo>
                    <a:pt x="82600" y="124122"/>
                  </a:lnTo>
                  <a:lnTo>
                    <a:pt x="41523" y="124122"/>
                  </a:lnTo>
                  <a:cubicBezTo>
                    <a:pt x="39440" y="124122"/>
                    <a:pt x="38398" y="123080"/>
                    <a:pt x="38398" y="120997"/>
                  </a:cubicBezTo>
                  <a:cubicBezTo>
                    <a:pt x="38398" y="118913"/>
                    <a:pt x="39440" y="117871"/>
                    <a:pt x="41523" y="117871"/>
                  </a:cubicBezTo>
                  <a:lnTo>
                    <a:pt x="82600" y="117871"/>
                  </a:lnTo>
                  <a:lnTo>
                    <a:pt x="82600" y="114746"/>
                  </a:lnTo>
                  <a:cubicBezTo>
                    <a:pt x="82600" y="111174"/>
                    <a:pt x="83865" y="108123"/>
                    <a:pt x="86395" y="105593"/>
                  </a:cubicBezTo>
                  <a:cubicBezTo>
                    <a:pt x="88925" y="103063"/>
                    <a:pt x="91976" y="101798"/>
                    <a:pt x="95548" y="101798"/>
                  </a:cubicBezTo>
                  <a:lnTo>
                    <a:pt x="110728" y="101798"/>
                  </a:lnTo>
                  <a:cubicBezTo>
                    <a:pt x="114300" y="101798"/>
                    <a:pt x="117351" y="103063"/>
                    <a:pt x="119881" y="105593"/>
                  </a:cubicBezTo>
                  <a:cubicBezTo>
                    <a:pt x="122411" y="108123"/>
                    <a:pt x="123676" y="111174"/>
                    <a:pt x="123676" y="114746"/>
                  </a:cubicBezTo>
                  <a:lnTo>
                    <a:pt x="123676" y="117871"/>
                  </a:lnTo>
                  <a:lnTo>
                    <a:pt x="193774" y="117871"/>
                  </a:lnTo>
                  <a:lnTo>
                    <a:pt x="193774" y="63400"/>
                  </a:lnTo>
                  <a:cubicBezTo>
                    <a:pt x="193774" y="61019"/>
                    <a:pt x="192807" y="58861"/>
                    <a:pt x="190872" y="56926"/>
                  </a:cubicBezTo>
                  <a:cubicBezTo>
                    <a:pt x="188937" y="54992"/>
                    <a:pt x="186779" y="54024"/>
                    <a:pt x="184398" y="54024"/>
                  </a:cubicBezTo>
                  <a:close/>
                  <a:moveTo>
                    <a:pt x="89743" y="12948"/>
                  </a:moveTo>
                  <a:cubicBezTo>
                    <a:pt x="84981" y="12948"/>
                    <a:pt x="82600" y="15329"/>
                    <a:pt x="82600" y="20091"/>
                  </a:cubicBezTo>
                  <a:lnTo>
                    <a:pt x="82600" y="41523"/>
                  </a:lnTo>
                  <a:lnTo>
                    <a:pt x="123676" y="41523"/>
                  </a:lnTo>
                  <a:lnTo>
                    <a:pt x="123676" y="20091"/>
                  </a:lnTo>
                  <a:cubicBezTo>
                    <a:pt x="123676" y="15329"/>
                    <a:pt x="119807" y="12948"/>
                    <a:pt x="112068" y="12948"/>
                  </a:cubicBezTo>
                  <a:close/>
                  <a:moveTo>
                    <a:pt x="89743" y="0"/>
                  </a:moveTo>
                  <a:lnTo>
                    <a:pt x="115193" y="0"/>
                  </a:lnTo>
                  <a:cubicBezTo>
                    <a:pt x="121742" y="0"/>
                    <a:pt x="126950" y="1860"/>
                    <a:pt x="130820" y="5581"/>
                  </a:cubicBezTo>
                  <a:cubicBezTo>
                    <a:pt x="134690" y="9301"/>
                    <a:pt x="136624" y="14138"/>
                    <a:pt x="136624" y="20091"/>
                  </a:cubicBezTo>
                  <a:lnTo>
                    <a:pt x="136624" y="41523"/>
                  </a:lnTo>
                  <a:lnTo>
                    <a:pt x="184398" y="41523"/>
                  </a:lnTo>
                  <a:cubicBezTo>
                    <a:pt x="190351" y="41523"/>
                    <a:pt x="195486" y="43681"/>
                    <a:pt x="199802" y="47997"/>
                  </a:cubicBezTo>
                  <a:cubicBezTo>
                    <a:pt x="204118" y="52313"/>
                    <a:pt x="206276" y="57447"/>
                    <a:pt x="206276" y="63400"/>
                  </a:cubicBezTo>
                  <a:lnTo>
                    <a:pt x="206276" y="181272"/>
                  </a:lnTo>
                  <a:cubicBezTo>
                    <a:pt x="206276" y="187225"/>
                    <a:pt x="204118" y="192434"/>
                    <a:pt x="199802" y="196899"/>
                  </a:cubicBezTo>
                  <a:cubicBezTo>
                    <a:pt x="195486" y="201364"/>
                    <a:pt x="190351" y="203596"/>
                    <a:pt x="184398" y="203596"/>
                  </a:cubicBezTo>
                  <a:lnTo>
                    <a:pt x="21878" y="203596"/>
                  </a:lnTo>
                  <a:cubicBezTo>
                    <a:pt x="15925" y="203596"/>
                    <a:pt x="10790" y="201364"/>
                    <a:pt x="6474" y="196899"/>
                  </a:cubicBezTo>
                  <a:cubicBezTo>
                    <a:pt x="2158" y="192434"/>
                    <a:pt x="0" y="187225"/>
                    <a:pt x="0" y="181272"/>
                  </a:cubicBezTo>
                  <a:lnTo>
                    <a:pt x="0" y="63400"/>
                  </a:lnTo>
                  <a:cubicBezTo>
                    <a:pt x="0" y="57447"/>
                    <a:pt x="2158" y="52313"/>
                    <a:pt x="6474" y="47997"/>
                  </a:cubicBezTo>
                  <a:cubicBezTo>
                    <a:pt x="10790" y="43681"/>
                    <a:pt x="15925" y="41523"/>
                    <a:pt x="21878" y="41523"/>
                  </a:cubicBezTo>
                  <a:lnTo>
                    <a:pt x="69652" y="41523"/>
                  </a:lnTo>
                  <a:lnTo>
                    <a:pt x="69652" y="20091"/>
                  </a:lnTo>
                  <a:cubicBezTo>
                    <a:pt x="69652" y="14138"/>
                    <a:pt x="71363" y="9301"/>
                    <a:pt x="74786" y="5581"/>
                  </a:cubicBezTo>
                  <a:cubicBezTo>
                    <a:pt x="78209" y="1860"/>
                    <a:pt x="83195" y="0"/>
                    <a:pt x="89743" y="0"/>
                  </a:cubicBezTo>
                  <a:close/>
                </a:path>
              </a:pathLst>
            </a:custGeom>
            <a:solidFill>
              <a:srgbClr val="7F2E3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40" name="Title 1"/>
          <p:cNvSpPr txBox="1"/>
          <p:nvPr/>
        </p:nvSpPr>
        <p:spPr>
          <a:xfrm>
            <a:off x="4584700" y="295001"/>
            <a:ext cx="30226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2400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发展过程及贡献企业</a:t>
            </a:r>
            <a:endParaRPr lang="en-GB" altLang="zh-CN" sz="2400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0" name="图片 9" descr="图标&#10;&#10;AI 生成的内容可能不正确。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495" y="2751717"/>
            <a:ext cx="762756" cy="762756"/>
          </a:xfrm>
          <a:prstGeom prst="rect">
            <a:avLst/>
          </a:prstGeom>
        </p:spPr>
      </p:pic>
      <p:pic>
        <p:nvPicPr>
          <p:cNvPr id="13" name="图片 12" descr="图标&#10;&#10;AI 生成的内容可能不正确。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225" y="2685209"/>
            <a:ext cx="824928" cy="82492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7892398" y="2560826"/>
            <a:ext cx="2191503" cy="1948226"/>
          </a:xfrm>
          <a:prstGeom prst="rect">
            <a:avLst/>
          </a:prstGeom>
          <a:solidFill>
            <a:srgbClr val="7F2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3591" y="1748789"/>
            <a:ext cx="1736829" cy="1524886"/>
          </a:xfrm>
          <a:prstGeom prst="ellipse">
            <a:avLst/>
          </a:prstGeom>
          <a:solidFill>
            <a:srgbClr val="7F2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1996-2004</a:t>
            </a:r>
          </a:p>
        </p:txBody>
      </p:sp>
      <p:sp>
        <p:nvSpPr>
          <p:cNvPr id="27" name="Oval 26"/>
          <p:cNvSpPr/>
          <p:nvPr/>
        </p:nvSpPr>
        <p:spPr>
          <a:xfrm>
            <a:off x="5481406" y="2418606"/>
            <a:ext cx="2001134" cy="2001134"/>
          </a:xfrm>
          <a:prstGeom prst="ellipse">
            <a:avLst/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70267" y="2560841"/>
            <a:ext cx="12234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2004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-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2016</a:t>
            </a:r>
          </a:p>
        </p:txBody>
      </p:sp>
      <p:sp>
        <p:nvSpPr>
          <p:cNvPr id="30" name="Oval 29"/>
          <p:cNvSpPr/>
          <p:nvPr/>
        </p:nvSpPr>
        <p:spPr>
          <a:xfrm>
            <a:off x="4369187" y="5049170"/>
            <a:ext cx="1703390" cy="152488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2016-2025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59886" y="5234740"/>
            <a:ext cx="1828800" cy="274320"/>
          </a:xfrm>
          <a:prstGeom prst="round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云鲸  </a:t>
            </a:r>
            <a:r>
              <a:rPr lang="en-US" altLang="zh-CN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|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531486" y="5234741"/>
            <a:ext cx="457200" cy="274320"/>
          </a:xfrm>
          <a:prstGeom prst="roundRect">
            <a:avLst/>
          </a:prstGeom>
          <a:solidFill>
            <a:srgbClr val="7F2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FontAwesome" pitchFamily="2" charset="0"/>
              </a:rPr>
              <a:t>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159886" y="5558393"/>
            <a:ext cx="1893737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9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Search engine</a:t>
            </a:r>
            <a:endParaRPr lang="en-US" sz="900" b="1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r"/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r"/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2019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年云鲸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J1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实现自动洗拖布功能，推动扫拖一体机普及。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50393" y="1603291"/>
            <a:ext cx="2259069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1996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年伊莱克斯推出全球首款扫地机器人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Trilobite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，采用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超声波导航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和随机碰撞避障。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2002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iRobot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推出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Roomba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，首次实现三段式清扫结构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边刷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滚刷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吸尘口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，但清扫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覆盖率不足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60%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，存在遗漏问题。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320515" y="5253424"/>
            <a:ext cx="3429648" cy="1168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2025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年石头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G30 Space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探索版搭载五轴机械臂，可移开障碍物并实现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远程视频巡查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，清洁死角覆盖率达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99.6%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。同期行业头部企业通过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算法优化和硬件升级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，推动均价从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年的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1687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元升至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2025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年的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3200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元。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68252" y="5509095"/>
            <a:ext cx="1849224" cy="6420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99.6%</a:t>
            </a:r>
          </a:p>
          <a:p>
            <a:endParaRPr lang="en-US" sz="900" b="1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92362" y="2604941"/>
            <a:ext cx="2286001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2004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年</a:t>
            </a:r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iRobot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通过灯塔定位实现</a:t>
            </a:r>
            <a:r>
              <a:rPr lang="zh-CN" altLang="en-US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初步路径规划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2010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年</a:t>
            </a:r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Neato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引入</a:t>
            </a:r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LDS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激光导航</a:t>
            </a:r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(SLAM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算法</a:t>
            </a:r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)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，清洁</a:t>
            </a:r>
            <a:r>
              <a:rPr lang="zh-CN" altLang="en-US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覆盖率提升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至</a:t>
            </a:r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92%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。</a:t>
            </a:r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2016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年石头科技将</a:t>
            </a:r>
            <a:r>
              <a:rPr lang="en-US" altLang="zh-CN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LDS</a:t>
            </a:r>
            <a:r>
              <a:rPr lang="zh-CN" alt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成本降至千元级，推动规划式清扫普及。</a:t>
            </a:r>
            <a:endParaRPr lang="en-US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34" name="Title 1"/>
          <p:cNvSpPr txBox="1"/>
          <p:nvPr/>
        </p:nvSpPr>
        <p:spPr>
          <a:xfrm>
            <a:off x="4584700" y="295001"/>
            <a:ext cx="30226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2400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三个阶段</a:t>
            </a:r>
            <a:endParaRPr lang="en-GB" altLang="zh-CN" sz="2400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1206625" y="2289237"/>
            <a:ext cx="31224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iRobot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奠定清扫功能基础结构，推动品类商业化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06624" y="4388004"/>
            <a:ext cx="3092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76655"/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Neato/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石头科技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defTabSz="1176655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主导激光导航技术革新降低使用门槛</a:t>
            </a:r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4665425" y="4684750"/>
            <a:ext cx="745335" cy="745335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2253" y="70672"/>
                </a:moveTo>
                <a:cubicBezTo>
                  <a:pt x="53068" y="74414"/>
                  <a:pt x="44946" y="79815"/>
                  <a:pt x="37888" y="86873"/>
                </a:cubicBezTo>
                <a:cubicBezTo>
                  <a:pt x="30829" y="93932"/>
                  <a:pt x="25429" y="102054"/>
                  <a:pt x="21687" y="111239"/>
                </a:cubicBezTo>
                <a:cubicBezTo>
                  <a:pt x="20836" y="113365"/>
                  <a:pt x="20836" y="115448"/>
                  <a:pt x="21687" y="117489"/>
                </a:cubicBezTo>
                <a:cubicBezTo>
                  <a:pt x="22537" y="119531"/>
                  <a:pt x="24025" y="120976"/>
                  <a:pt x="26151" y="121827"/>
                </a:cubicBezTo>
                <a:cubicBezTo>
                  <a:pt x="27257" y="122252"/>
                  <a:pt x="28278" y="122465"/>
                  <a:pt x="29213" y="122465"/>
                </a:cubicBezTo>
                <a:cubicBezTo>
                  <a:pt x="32785" y="122465"/>
                  <a:pt x="35336" y="120764"/>
                  <a:pt x="36867" y="117362"/>
                </a:cubicBezTo>
                <a:cubicBezTo>
                  <a:pt x="39759" y="110218"/>
                  <a:pt x="43947" y="103904"/>
                  <a:pt x="49432" y="98418"/>
                </a:cubicBezTo>
                <a:cubicBezTo>
                  <a:pt x="54918" y="92933"/>
                  <a:pt x="61232" y="88744"/>
                  <a:pt x="68376" y="85853"/>
                </a:cubicBezTo>
                <a:cubicBezTo>
                  <a:pt x="70502" y="84917"/>
                  <a:pt x="71991" y="83429"/>
                  <a:pt x="72841" y="81388"/>
                </a:cubicBezTo>
                <a:cubicBezTo>
                  <a:pt x="73691" y="79347"/>
                  <a:pt x="73691" y="77263"/>
                  <a:pt x="72841" y="75137"/>
                </a:cubicBezTo>
                <a:cubicBezTo>
                  <a:pt x="71991" y="73011"/>
                  <a:pt x="70545" y="71523"/>
                  <a:pt x="68504" y="70672"/>
                </a:cubicBezTo>
                <a:cubicBezTo>
                  <a:pt x="66463" y="69822"/>
                  <a:pt x="64379" y="69822"/>
                  <a:pt x="62253" y="70672"/>
                </a:cubicBezTo>
                <a:close/>
                <a:moveTo>
                  <a:pt x="208891" y="33295"/>
                </a:moveTo>
                <a:cubicBezTo>
                  <a:pt x="210039" y="33295"/>
                  <a:pt x="210996" y="33720"/>
                  <a:pt x="211761" y="34571"/>
                </a:cubicBezTo>
                <a:lnTo>
                  <a:pt x="223370" y="46052"/>
                </a:lnTo>
                <a:cubicBezTo>
                  <a:pt x="224135" y="46902"/>
                  <a:pt x="224518" y="47880"/>
                  <a:pt x="224518" y="48986"/>
                </a:cubicBezTo>
                <a:cubicBezTo>
                  <a:pt x="224518" y="50092"/>
                  <a:pt x="224135" y="51070"/>
                  <a:pt x="223370" y="51920"/>
                </a:cubicBezTo>
                <a:cubicBezTo>
                  <a:pt x="222435" y="52685"/>
                  <a:pt x="221456" y="53068"/>
                  <a:pt x="220436" y="53068"/>
                </a:cubicBezTo>
                <a:cubicBezTo>
                  <a:pt x="219415" y="53068"/>
                  <a:pt x="218437" y="52685"/>
                  <a:pt x="217502" y="51920"/>
                </a:cubicBezTo>
                <a:lnTo>
                  <a:pt x="206021" y="40311"/>
                </a:lnTo>
                <a:cubicBezTo>
                  <a:pt x="205170" y="39546"/>
                  <a:pt x="204745" y="38589"/>
                  <a:pt x="204745" y="37441"/>
                </a:cubicBezTo>
                <a:cubicBezTo>
                  <a:pt x="204745" y="36293"/>
                  <a:pt x="205170" y="35336"/>
                  <a:pt x="206021" y="34571"/>
                </a:cubicBezTo>
                <a:cubicBezTo>
                  <a:pt x="206786" y="33720"/>
                  <a:pt x="207743" y="33295"/>
                  <a:pt x="208891" y="33295"/>
                </a:cubicBezTo>
                <a:close/>
                <a:moveTo>
                  <a:pt x="193009" y="29723"/>
                </a:moveTo>
                <a:lnTo>
                  <a:pt x="198877" y="35591"/>
                </a:lnTo>
                <a:lnTo>
                  <a:pt x="167751" y="66590"/>
                </a:lnTo>
                <a:lnTo>
                  <a:pt x="176425" y="75265"/>
                </a:lnTo>
                <a:cubicBezTo>
                  <a:pt x="178041" y="76881"/>
                  <a:pt x="178849" y="78815"/>
                  <a:pt x="178849" y="81069"/>
                </a:cubicBezTo>
                <a:cubicBezTo>
                  <a:pt x="178849" y="83323"/>
                  <a:pt x="178041" y="85258"/>
                  <a:pt x="176425" y="86873"/>
                </a:cubicBezTo>
                <a:lnTo>
                  <a:pt x="168261" y="95038"/>
                </a:lnTo>
                <a:cubicBezTo>
                  <a:pt x="175830" y="108730"/>
                  <a:pt x="179615" y="123315"/>
                  <a:pt x="179615" y="138793"/>
                </a:cubicBezTo>
                <a:cubicBezTo>
                  <a:pt x="179615" y="150955"/>
                  <a:pt x="177255" y="162584"/>
                  <a:pt x="172535" y="173683"/>
                </a:cubicBezTo>
                <a:cubicBezTo>
                  <a:pt x="167815" y="184781"/>
                  <a:pt x="161436" y="194349"/>
                  <a:pt x="153400" y="202385"/>
                </a:cubicBezTo>
                <a:cubicBezTo>
                  <a:pt x="145363" y="210422"/>
                  <a:pt x="135795" y="216800"/>
                  <a:pt x="124697" y="221520"/>
                </a:cubicBezTo>
                <a:cubicBezTo>
                  <a:pt x="113599" y="226240"/>
                  <a:pt x="101969" y="228600"/>
                  <a:pt x="89807" y="228600"/>
                </a:cubicBezTo>
                <a:cubicBezTo>
                  <a:pt x="77646" y="228600"/>
                  <a:pt x="66016" y="226240"/>
                  <a:pt x="54918" y="221520"/>
                </a:cubicBezTo>
                <a:cubicBezTo>
                  <a:pt x="43819" y="216800"/>
                  <a:pt x="34252" y="210422"/>
                  <a:pt x="26215" y="202385"/>
                </a:cubicBezTo>
                <a:cubicBezTo>
                  <a:pt x="18179" y="194349"/>
                  <a:pt x="11800" y="184781"/>
                  <a:pt x="7080" y="173683"/>
                </a:cubicBezTo>
                <a:cubicBezTo>
                  <a:pt x="2360" y="162584"/>
                  <a:pt x="0" y="150955"/>
                  <a:pt x="0" y="138793"/>
                </a:cubicBezTo>
                <a:cubicBezTo>
                  <a:pt x="0" y="126632"/>
                  <a:pt x="2360" y="115002"/>
                  <a:pt x="7080" y="103904"/>
                </a:cubicBezTo>
                <a:cubicBezTo>
                  <a:pt x="11800" y="92805"/>
                  <a:pt x="18179" y="83238"/>
                  <a:pt x="26215" y="75201"/>
                </a:cubicBezTo>
                <a:cubicBezTo>
                  <a:pt x="34252" y="67164"/>
                  <a:pt x="43819" y="60786"/>
                  <a:pt x="54918" y="56066"/>
                </a:cubicBezTo>
                <a:cubicBezTo>
                  <a:pt x="66016" y="51346"/>
                  <a:pt x="77646" y="48986"/>
                  <a:pt x="89807" y="48986"/>
                </a:cubicBezTo>
                <a:cubicBezTo>
                  <a:pt x="105286" y="48986"/>
                  <a:pt x="119871" y="52770"/>
                  <a:pt x="133563" y="60339"/>
                </a:cubicBezTo>
                <a:lnTo>
                  <a:pt x="141727" y="52175"/>
                </a:lnTo>
                <a:cubicBezTo>
                  <a:pt x="143343" y="50559"/>
                  <a:pt x="145278" y="49751"/>
                  <a:pt x="147531" y="49751"/>
                </a:cubicBezTo>
                <a:cubicBezTo>
                  <a:pt x="149785" y="49751"/>
                  <a:pt x="151720" y="50559"/>
                  <a:pt x="153336" y="52175"/>
                </a:cubicBezTo>
                <a:lnTo>
                  <a:pt x="162010" y="60850"/>
                </a:lnTo>
                <a:close/>
                <a:moveTo>
                  <a:pt x="212272" y="24493"/>
                </a:moveTo>
                <a:lnTo>
                  <a:pt x="224518" y="24493"/>
                </a:lnTo>
                <a:cubicBezTo>
                  <a:pt x="225709" y="24493"/>
                  <a:pt x="226687" y="24876"/>
                  <a:pt x="227452" y="25641"/>
                </a:cubicBezTo>
                <a:cubicBezTo>
                  <a:pt x="228218" y="26407"/>
                  <a:pt x="228600" y="27385"/>
                  <a:pt x="228600" y="28575"/>
                </a:cubicBezTo>
                <a:cubicBezTo>
                  <a:pt x="228600" y="29766"/>
                  <a:pt x="228218" y="30744"/>
                  <a:pt x="227452" y="31509"/>
                </a:cubicBezTo>
                <a:cubicBezTo>
                  <a:pt x="226687" y="32275"/>
                  <a:pt x="225709" y="32657"/>
                  <a:pt x="224518" y="32657"/>
                </a:cubicBezTo>
                <a:lnTo>
                  <a:pt x="212272" y="32657"/>
                </a:lnTo>
                <a:cubicBezTo>
                  <a:pt x="211081" y="32657"/>
                  <a:pt x="210103" y="32275"/>
                  <a:pt x="209338" y="31509"/>
                </a:cubicBezTo>
                <a:cubicBezTo>
                  <a:pt x="208572" y="30744"/>
                  <a:pt x="208190" y="29766"/>
                  <a:pt x="208190" y="28575"/>
                </a:cubicBezTo>
                <a:cubicBezTo>
                  <a:pt x="208190" y="27385"/>
                  <a:pt x="208572" y="26407"/>
                  <a:pt x="209338" y="25641"/>
                </a:cubicBezTo>
                <a:cubicBezTo>
                  <a:pt x="210103" y="24876"/>
                  <a:pt x="211081" y="24493"/>
                  <a:pt x="212272" y="24493"/>
                </a:cubicBezTo>
                <a:close/>
                <a:moveTo>
                  <a:pt x="220436" y="4082"/>
                </a:moveTo>
                <a:cubicBezTo>
                  <a:pt x="221542" y="4082"/>
                  <a:pt x="222520" y="4465"/>
                  <a:pt x="223370" y="5231"/>
                </a:cubicBezTo>
                <a:cubicBezTo>
                  <a:pt x="224135" y="6081"/>
                  <a:pt x="224518" y="7059"/>
                  <a:pt x="224518" y="8165"/>
                </a:cubicBezTo>
                <a:cubicBezTo>
                  <a:pt x="224518" y="9270"/>
                  <a:pt x="224135" y="10248"/>
                  <a:pt x="223370" y="11099"/>
                </a:cubicBezTo>
                <a:lnTo>
                  <a:pt x="211761" y="22580"/>
                </a:lnTo>
                <a:cubicBezTo>
                  <a:pt x="210911" y="23430"/>
                  <a:pt x="209975" y="23855"/>
                  <a:pt x="208955" y="23855"/>
                </a:cubicBezTo>
                <a:cubicBezTo>
                  <a:pt x="207849" y="23855"/>
                  <a:pt x="206871" y="23430"/>
                  <a:pt x="206021" y="22580"/>
                </a:cubicBezTo>
                <a:cubicBezTo>
                  <a:pt x="205170" y="21814"/>
                  <a:pt x="204745" y="20857"/>
                  <a:pt x="204745" y="19709"/>
                </a:cubicBezTo>
                <a:cubicBezTo>
                  <a:pt x="204745" y="18561"/>
                  <a:pt x="205170" y="17605"/>
                  <a:pt x="206021" y="16839"/>
                </a:cubicBezTo>
                <a:lnTo>
                  <a:pt x="217502" y="5231"/>
                </a:lnTo>
                <a:cubicBezTo>
                  <a:pt x="218352" y="4465"/>
                  <a:pt x="219330" y="4082"/>
                  <a:pt x="220436" y="4082"/>
                </a:cubicBezTo>
                <a:close/>
                <a:moveTo>
                  <a:pt x="179615" y="4082"/>
                </a:moveTo>
                <a:cubicBezTo>
                  <a:pt x="180720" y="4082"/>
                  <a:pt x="181698" y="4465"/>
                  <a:pt x="182549" y="5231"/>
                </a:cubicBezTo>
                <a:lnTo>
                  <a:pt x="194030" y="16839"/>
                </a:lnTo>
                <a:cubicBezTo>
                  <a:pt x="194880" y="17605"/>
                  <a:pt x="195305" y="18561"/>
                  <a:pt x="195305" y="19709"/>
                </a:cubicBezTo>
                <a:cubicBezTo>
                  <a:pt x="195305" y="20857"/>
                  <a:pt x="194880" y="21814"/>
                  <a:pt x="194030" y="22580"/>
                </a:cubicBezTo>
                <a:cubicBezTo>
                  <a:pt x="193179" y="23430"/>
                  <a:pt x="192244" y="23855"/>
                  <a:pt x="191223" y="23855"/>
                </a:cubicBezTo>
                <a:cubicBezTo>
                  <a:pt x="190118" y="23855"/>
                  <a:pt x="189140" y="23430"/>
                  <a:pt x="188289" y="22580"/>
                </a:cubicBezTo>
                <a:lnTo>
                  <a:pt x="176680" y="11099"/>
                </a:lnTo>
                <a:cubicBezTo>
                  <a:pt x="175915" y="10248"/>
                  <a:pt x="175532" y="9270"/>
                  <a:pt x="175532" y="8165"/>
                </a:cubicBezTo>
                <a:cubicBezTo>
                  <a:pt x="175532" y="7059"/>
                  <a:pt x="175915" y="6081"/>
                  <a:pt x="176680" y="5231"/>
                </a:cubicBezTo>
                <a:cubicBezTo>
                  <a:pt x="177531" y="4465"/>
                  <a:pt x="178509" y="4082"/>
                  <a:pt x="179615" y="4082"/>
                </a:cubicBezTo>
                <a:close/>
                <a:moveTo>
                  <a:pt x="200025" y="0"/>
                </a:moveTo>
                <a:cubicBezTo>
                  <a:pt x="201216" y="0"/>
                  <a:pt x="202194" y="383"/>
                  <a:pt x="202959" y="1148"/>
                </a:cubicBezTo>
                <a:cubicBezTo>
                  <a:pt x="203725" y="1914"/>
                  <a:pt x="204107" y="2892"/>
                  <a:pt x="204107" y="4082"/>
                </a:cubicBezTo>
                <a:lnTo>
                  <a:pt x="204107" y="16329"/>
                </a:lnTo>
                <a:cubicBezTo>
                  <a:pt x="204107" y="17519"/>
                  <a:pt x="203725" y="18497"/>
                  <a:pt x="202959" y="19263"/>
                </a:cubicBezTo>
                <a:cubicBezTo>
                  <a:pt x="202194" y="20028"/>
                  <a:pt x="201216" y="20411"/>
                  <a:pt x="200025" y="20411"/>
                </a:cubicBezTo>
                <a:cubicBezTo>
                  <a:pt x="198835" y="20411"/>
                  <a:pt x="197857" y="20028"/>
                  <a:pt x="197091" y="19263"/>
                </a:cubicBezTo>
                <a:cubicBezTo>
                  <a:pt x="196326" y="18497"/>
                  <a:pt x="195943" y="17519"/>
                  <a:pt x="195943" y="16329"/>
                </a:cubicBezTo>
                <a:lnTo>
                  <a:pt x="195943" y="4082"/>
                </a:lnTo>
                <a:cubicBezTo>
                  <a:pt x="195943" y="2892"/>
                  <a:pt x="196326" y="1914"/>
                  <a:pt x="197091" y="1148"/>
                </a:cubicBezTo>
                <a:cubicBezTo>
                  <a:pt x="197857" y="383"/>
                  <a:pt x="198835" y="0"/>
                  <a:pt x="200025" y="0"/>
                </a:cubicBezTo>
                <a:close/>
              </a:path>
            </a:pathLst>
          </a:custGeom>
          <a:solidFill>
            <a:srgbClr val="7F2E3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AU" dirty="0">
              <a:solidFill>
                <a:schemeClr val="tx1">
                  <a:lumMod val="75000"/>
                  <a:lumOff val="25000"/>
                </a:schemeClr>
              </a:solidFill>
              <a:latin typeface="FontAwesome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26940" y="2289237"/>
            <a:ext cx="31224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76655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云鲸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defTabSz="1176655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itchFamily="2" charset="-122"/>
                <a:ea typeface="宋体" pitchFamily="2" charset="-122"/>
              </a:rPr>
              <a:t>优化拖地功能，推动国内市场爆发，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4049" y="2378704"/>
            <a:ext cx="361294" cy="280928"/>
          </a:xfrm>
          <a:prstGeom prst="roundRect">
            <a:avLst/>
          </a:prstGeom>
          <a:solidFill>
            <a:srgbClr val="7F2E30"/>
          </a:solidFill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5189" y="4450483"/>
            <a:ext cx="361294" cy="280928"/>
          </a:xfrm>
          <a:prstGeom prst="roundRect">
            <a:avLst/>
          </a:prstGeom>
          <a:solidFill>
            <a:srgbClr val="7F2E30"/>
          </a:solidFill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1705" y="2378703"/>
            <a:ext cx="361294" cy="280928"/>
          </a:xfrm>
          <a:prstGeom prst="roundRect">
            <a:avLst/>
          </a:prstGeom>
          <a:solidFill>
            <a:srgbClr val="363636"/>
          </a:solidFill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4281" y="4382797"/>
            <a:ext cx="31224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176655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科沃斯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defTabSz="1176655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itchFamily="2" charset="-122"/>
                <a:ea typeface="宋体" pitchFamily="2" charset="-122"/>
              </a:rPr>
              <a:t>通过算法升级实现毫米级避障，提升清洁深度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01705" y="4450483"/>
            <a:ext cx="337512" cy="255389"/>
          </a:xfrm>
          <a:prstGeom prst="roundRect">
            <a:avLst/>
          </a:prstGeom>
          <a:solidFill>
            <a:srgbClr val="363636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04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25" name="Title 1"/>
          <p:cNvSpPr txBox="1"/>
          <p:nvPr/>
        </p:nvSpPr>
        <p:spPr>
          <a:xfrm>
            <a:off x="4584700" y="295001"/>
            <a:ext cx="30226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2400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关键贡献企业</a:t>
            </a:r>
            <a:endParaRPr lang="en-GB" altLang="zh-CN" sz="2400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" name="图片 2" descr="徽标&#10;&#10;AI 生成的内容可能不正确。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552" y="2350292"/>
            <a:ext cx="1718749" cy="1383436"/>
          </a:xfrm>
          <a:prstGeom prst="rect">
            <a:avLst/>
          </a:prstGeom>
        </p:spPr>
      </p:pic>
      <p:pic>
        <p:nvPicPr>
          <p:cNvPr id="5" name="图片 4" descr="徽标, 公司名称&#10;&#10;AI 生成的内容可能不正确。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977" y="4382797"/>
            <a:ext cx="1420539" cy="1420539"/>
          </a:xfrm>
          <a:prstGeom prst="rect">
            <a:avLst/>
          </a:prstGeom>
        </p:spPr>
      </p:pic>
      <p:pic>
        <p:nvPicPr>
          <p:cNvPr id="7" name="图片 6" descr="文本&#10;&#10;AI 生成的内容可能不正确。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323" y="2576224"/>
            <a:ext cx="1224628" cy="816418"/>
          </a:xfrm>
          <a:prstGeom prst="rect">
            <a:avLst/>
          </a:prstGeom>
        </p:spPr>
      </p:pic>
      <p:pic>
        <p:nvPicPr>
          <p:cNvPr id="9" name="图片 8" descr="徽标&#10;&#10;AI 生成的内容可能不正确。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773" y="4819192"/>
            <a:ext cx="1526397" cy="4879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" b="29643"/>
          <a:stretch>
            <a:fillRect/>
          </a:stretch>
        </p:blipFill>
        <p:spPr>
          <a:xfrm>
            <a:off x="0" y="1858930"/>
            <a:ext cx="12192000" cy="2971800"/>
          </a:xfrm>
          <a:prstGeom prst="rect">
            <a:avLst/>
          </a:prstGeom>
        </p:spPr>
      </p:pic>
      <p:sp>
        <p:nvSpPr>
          <p:cNvPr id="6" name="TextBox 11"/>
          <p:cNvSpPr txBox="1"/>
          <p:nvPr/>
        </p:nvSpPr>
        <p:spPr>
          <a:xfrm>
            <a:off x="4913137" y="2591998"/>
            <a:ext cx="2365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7F2E30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Part.3</a:t>
            </a:r>
            <a:endParaRPr lang="zh-CN" altLang="en-US" sz="5400" b="1" dirty="0">
              <a:solidFill>
                <a:srgbClr val="7F2E30"/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8" name="Subtitle 9"/>
          <p:cNvSpPr txBox="1"/>
          <p:nvPr/>
        </p:nvSpPr>
        <p:spPr>
          <a:xfrm>
            <a:off x="3414136" y="3516786"/>
            <a:ext cx="5363726" cy="731610"/>
          </a:xfrm>
          <a:prstGeom prst="rect">
            <a:avLst/>
          </a:prstGeom>
        </p:spPr>
        <p:txBody>
          <a:bodyPr vert="horz" wrap="square" lIns="102742" tIns="51371" rIns="102742" bIns="51371" rtlCol="0">
            <a:spAutoFit/>
          </a:bodyPr>
          <a:lstStyle>
            <a:defPPr>
              <a:defRPr lang="zh-CN"/>
            </a:defPPr>
            <a:lvl1pPr indent="0" algn="r" defTabSz="1087755">
              <a:lnSpc>
                <a:spcPct val="100000"/>
              </a:lnSpc>
              <a:spcBef>
                <a:spcPct val="20000"/>
              </a:spcBef>
              <a:buFont typeface="Arial" panose="020B0604020202020204"/>
              <a:buNone/>
              <a:defRPr sz="2000">
                <a:solidFill>
                  <a:schemeClr val="accent2"/>
                </a:solidFill>
                <a:latin typeface="微软雅黑"/>
                <a:ea typeface="微软雅黑"/>
                <a:cs typeface="Open Sans Light"/>
              </a:defRPr>
            </a:lvl1pPr>
            <a:lvl2pPr marL="1087755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2pPr>
            <a:lvl3pPr marL="2174875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3pPr>
            <a:lvl4pPr marL="3262630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4pPr>
            <a:lvl5pPr marL="4349750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5pPr>
            <a:lvl6pPr marL="5437505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4625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2380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699500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zh-CN" altLang="en-US" sz="2400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基于计算机技术的未来发展趋势总结</a:t>
            </a:r>
            <a:endParaRPr lang="en-US" altLang="zh-CN" sz="2400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en-US" altLang="zh-CN" sz="1400" dirty="0">
                <a:solidFill>
                  <a:srgbClr val="3C3C3C"/>
                </a:solidFill>
              </a:rPr>
              <a:t>Summary of Future Trends Based on Computer Technology</a:t>
            </a:r>
            <a:endParaRPr lang="en-US" sz="1400" kern="0" dirty="0">
              <a:solidFill>
                <a:srgbClr val="3C3C3C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桌子上放着电视的客厅&#10;&#10;AI 生成的内容可能不正确。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" t="14470" r="-1497" b="3987"/>
          <a:stretch>
            <a:fillRect/>
          </a:stretch>
        </p:blipFill>
        <p:spPr>
          <a:xfrm>
            <a:off x="5903434" y="1420540"/>
            <a:ext cx="4088607" cy="502776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25" name="Title 1"/>
          <p:cNvSpPr txBox="1"/>
          <p:nvPr/>
        </p:nvSpPr>
        <p:spPr>
          <a:xfrm>
            <a:off x="1687672" y="2216160"/>
            <a:ext cx="478938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endParaRPr lang="en-GB" altLang="zh-CN" sz="2400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1161047" y="1600200"/>
            <a:ext cx="6106027" cy="4749800"/>
          </a:xfrm>
          <a:prstGeom prst="rect">
            <a:avLst/>
          </a:prstGeom>
          <a:solidFill>
            <a:srgbClr val="7F2E30">
              <a:alpha val="70195"/>
            </a:srgbClr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pPr algn="ctr" eaLnBrk="1" hangingPunct="1"/>
            <a:endParaRPr lang="en-US" altLang="zh-CN" sz="1300" dirty="0">
              <a:solidFill>
                <a:srgbClr val="FFFFF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81956" y="1784586"/>
            <a:ext cx="5064207" cy="35394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514350" indent="-514350">
              <a:buAutoNum type="ea1ChsPlain"/>
            </a:pPr>
            <a:r>
              <a:rPr lang="zh-CN" altLang="en-US" sz="2800" i="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智能决策系统的全面升级</a:t>
            </a:r>
            <a:endParaRPr lang="en-US" altLang="zh-CN" sz="2800" i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ea1ChsPlain"/>
            </a:pPr>
            <a:endParaRPr lang="en-US" altLang="zh-CN" sz="2800" i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i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i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i="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  多模态感知系统的深度融合</a:t>
            </a:r>
            <a:endParaRPr lang="en-US" altLang="zh-CN" sz="2800" i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i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800" i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i="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  隐私安全问题的防患未然</a:t>
            </a:r>
            <a:endParaRPr lang="zh-CN" altLang="en-US" sz="2800" b="0" i="1" cap="none" spc="0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11ACD1-3D38-FB9B-A8B6-89F0A21FF9A8}"/>
              </a:ext>
            </a:extLst>
          </p:cNvPr>
          <p:cNvSpPr txBox="1"/>
          <p:nvPr/>
        </p:nvSpPr>
        <p:spPr>
          <a:xfrm>
            <a:off x="2099332" y="2363430"/>
            <a:ext cx="4836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机器人不仅能执行预设任务，还能通过与环境交互实现自我学习与优化，甚至预测宠物移动轨迹，实现动态环境适配。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C24064-ACDA-0343-1C07-4A0D55F428DA}"/>
              </a:ext>
            </a:extLst>
          </p:cNvPr>
          <p:cNvSpPr txBox="1"/>
          <p:nvPr/>
        </p:nvSpPr>
        <p:spPr>
          <a:xfrm>
            <a:off x="2199959" y="5342106"/>
            <a:ext cx="483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通过联邦学习技术和差分隐私算法，确保用户家庭数据的隐私性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B0C4BA-E1F1-E7A8-F171-F182CA3927EF}"/>
              </a:ext>
            </a:extLst>
          </p:cNvPr>
          <p:cNvSpPr txBox="1"/>
          <p:nvPr/>
        </p:nvSpPr>
        <p:spPr>
          <a:xfrm>
            <a:off x="2169923" y="4104928"/>
            <a:ext cx="483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激光雷达与视觉系统融合成为主流，抗干扰能力增强，适应复杂家居环境。</a:t>
            </a:r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8" b="29643"/>
          <a:stretch>
            <a:fillRect/>
          </a:stretch>
        </p:blipFill>
        <p:spPr>
          <a:xfrm>
            <a:off x="0" y="1858930"/>
            <a:ext cx="12192000" cy="2971800"/>
          </a:xfrm>
          <a:prstGeom prst="rect">
            <a:avLst/>
          </a:prstGeom>
        </p:spPr>
      </p:pic>
      <p:sp>
        <p:nvSpPr>
          <p:cNvPr id="6" name="TextBox 11"/>
          <p:cNvSpPr txBox="1"/>
          <p:nvPr/>
        </p:nvSpPr>
        <p:spPr>
          <a:xfrm>
            <a:off x="4913138" y="2634671"/>
            <a:ext cx="2365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rgbClr val="7F2E30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Part.4</a:t>
            </a:r>
            <a:endParaRPr lang="zh-CN" altLang="en-US" sz="5400" b="1" dirty="0">
              <a:solidFill>
                <a:srgbClr val="7F2E30"/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8" name="Subtitle 9"/>
          <p:cNvSpPr txBox="1"/>
          <p:nvPr/>
        </p:nvSpPr>
        <p:spPr>
          <a:xfrm>
            <a:off x="4223792" y="3535330"/>
            <a:ext cx="3744416" cy="731610"/>
          </a:xfrm>
          <a:prstGeom prst="rect">
            <a:avLst/>
          </a:prstGeom>
        </p:spPr>
        <p:txBody>
          <a:bodyPr vert="horz" wrap="square" lIns="102742" tIns="51371" rIns="102742" bIns="51371" rtlCol="0">
            <a:spAutoFit/>
          </a:bodyPr>
          <a:lstStyle>
            <a:defPPr>
              <a:defRPr lang="zh-CN"/>
            </a:defPPr>
            <a:lvl1pPr indent="0" algn="r" defTabSz="1087755">
              <a:lnSpc>
                <a:spcPct val="100000"/>
              </a:lnSpc>
              <a:spcBef>
                <a:spcPct val="20000"/>
              </a:spcBef>
              <a:buFont typeface="Arial" panose="020B0604020202020204"/>
              <a:buNone/>
              <a:defRPr sz="2000">
                <a:solidFill>
                  <a:schemeClr val="accent2"/>
                </a:solidFill>
                <a:latin typeface="微软雅黑"/>
                <a:ea typeface="微软雅黑"/>
                <a:cs typeface="Open Sans Light"/>
              </a:defRPr>
            </a:lvl1pPr>
            <a:lvl2pPr marL="1087755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2pPr>
            <a:lvl3pPr marL="2174875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3pPr>
            <a:lvl4pPr marL="3262630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4pPr>
            <a:lvl5pPr marL="4349750" indent="0" algn="ctr" defTabSz="1087755">
              <a:lnSpc>
                <a:spcPct val="130000"/>
              </a:lnSpc>
              <a:spcBef>
                <a:spcPct val="20000"/>
              </a:spcBef>
              <a:buFont typeface="Arial" panose="020B0604020202020204"/>
              <a:buNone/>
              <a:defRPr sz="3100">
                <a:solidFill>
                  <a:schemeClr val="tx1">
                    <a:tint val="75000"/>
                  </a:schemeClr>
                </a:solidFill>
                <a:latin typeface="Open Sans" panose="020B0606030504020204"/>
                <a:cs typeface="Open Sans" panose="020B0606030504020204"/>
              </a:defRPr>
            </a:lvl5pPr>
            <a:lvl6pPr marL="5437505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6pPr>
            <a:lvl7pPr marL="6524625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7pPr>
            <a:lvl8pPr marL="7612380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8pPr>
            <a:lvl9pPr marL="8699500" indent="0" algn="ctr" defTabSz="1087755">
              <a:spcBef>
                <a:spcPct val="20000"/>
              </a:spcBef>
              <a:buFont typeface="Arial" panose="020B0604020202020204"/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/>
            <a:r>
              <a:rPr lang="zh-CN" altLang="en-US" sz="2400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小结</a:t>
            </a:r>
          </a:p>
          <a:p>
            <a:pPr algn="ctr">
              <a:defRPr/>
            </a:pPr>
            <a:r>
              <a:rPr lang="en-US" altLang="zh-CN" sz="1400" dirty="0">
                <a:solidFill>
                  <a:srgbClr val="3C3C3C"/>
                </a:solidFill>
              </a:rPr>
              <a:t>Brief summary</a:t>
            </a:r>
            <a:endParaRPr lang="en-US" sz="1400" kern="0" dirty="0">
              <a:solidFill>
                <a:srgbClr val="3C3C3C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8252306" y="4531897"/>
            <a:ext cx="595313" cy="598885"/>
          </a:xfrm>
          <a:prstGeom prst="ellipse">
            <a:avLst/>
          </a:prstGeom>
          <a:solidFill>
            <a:srgbClr val="363636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/>
          <a:lstStyle/>
          <a:p>
            <a:endParaRPr lang="zh-CN" altLang="zh-CN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0" b="79202"/>
          <a:stretch>
            <a:fillRect/>
          </a:stretch>
        </p:blipFill>
        <p:spPr>
          <a:xfrm>
            <a:off x="0" y="508000"/>
            <a:ext cx="12192000" cy="699541"/>
          </a:xfrm>
          <a:prstGeom prst="rect">
            <a:avLst/>
          </a:prstGeom>
        </p:spPr>
      </p:pic>
      <p:sp>
        <p:nvSpPr>
          <p:cNvPr id="41" name="Title 1"/>
          <p:cNvSpPr txBox="1"/>
          <p:nvPr/>
        </p:nvSpPr>
        <p:spPr>
          <a:xfrm>
            <a:off x="4584700" y="295001"/>
            <a:ext cx="3022600" cy="1125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176655"/>
            <a:r>
              <a:rPr lang="zh-CN" altLang="en-US" sz="2400" dirty="0">
                <a:solidFill>
                  <a:srgbClr val="3C3C3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小结</a:t>
            </a:r>
            <a:endParaRPr lang="en-GB" altLang="zh-CN" sz="2400" dirty="0">
              <a:solidFill>
                <a:srgbClr val="3C3C3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42" name="矩形 3"/>
          <p:cNvSpPr>
            <a:spLocks noChangeArrowheads="1"/>
          </p:cNvSpPr>
          <p:nvPr/>
        </p:nvSpPr>
        <p:spPr bwMode="auto">
          <a:xfrm>
            <a:off x="877454" y="2474913"/>
            <a:ext cx="1420888" cy="377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68573" tIns="34287" rIns="68573" bIns="34287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Arial" panose="020B0604020202020204" pitchFamily="34" charset="0"/>
              </a:rPr>
              <a:t>回顾与总结</a:t>
            </a:r>
          </a:p>
        </p:txBody>
      </p:sp>
      <p:sp>
        <p:nvSpPr>
          <p:cNvPr id="50" name="矩形 47"/>
          <p:cNvSpPr>
            <a:spLocks noChangeArrowheads="1"/>
          </p:cNvSpPr>
          <p:nvPr/>
        </p:nvSpPr>
        <p:spPr bwMode="auto">
          <a:xfrm>
            <a:off x="877454" y="2901378"/>
            <a:ext cx="4034637" cy="2465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spcAft>
                <a:spcPts val="375"/>
              </a:spcAft>
              <a:buNone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随着智能家居渗透率提升，扫地机器人已成为千万家庭的 “清洁助手”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——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据奥维云网数据，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2024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年全球扫地机器人出货量突破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2000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万台，但其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核心竞争力并非 “扫地” 本身，而是背后支撑 “高效清洁” 的清扫策略技术体系。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从早期依赖碰撞反馈的 “随机乱扫”，到如今基于激光 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SLAM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的 “全局规划清扫”，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扫地机器人的进化本质是计算机技术的落地迭代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：环境感知层的传感器精度提升、路径规划层的算法优化、执行控制层的响应速度升级，共同决定了清扫效率与用户体验。观其发展进程，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扫地机器人也越来越趋向智能化、技术多元化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，未来市场愈加广阔。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auto">
          <a:xfrm>
            <a:off x="8228522" y="2572179"/>
            <a:ext cx="595313" cy="598885"/>
          </a:xfrm>
          <a:prstGeom prst="ellipse">
            <a:avLst/>
          </a:prstGeom>
          <a:solidFill>
            <a:srgbClr val="363636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/>
          <a:lstStyle/>
          <a:p>
            <a:endParaRPr lang="zh-CN" altLang="zh-CN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2" name="矩形 47"/>
          <p:cNvSpPr>
            <a:spLocks noChangeArrowheads="1"/>
          </p:cNvSpPr>
          <p:nvPr/>
        </p:nvSpPr>
        <p:spPr bwMode="auto">
          <a:xfrm>
            <a:off x="8870270" y="2851933"/>
            <a:ext cx="2307067" cy="2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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陀螺仪传感器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&amp;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车轮编码器。</a:t>
            </a:r>
          </a:p>
        </p:txBody>
      </p:sp>
      <p:sp>
        <p:nvSpPr>
          <p:cNvPr id="73" name="矩形 69"/>
          <p:cNvSpPr>
            <a:spLocks noChangeArrowheads="1"/>
          </p:cNvSpPr>
          <p:nvPr/>
        </p:nvSpPr>
        <p:spPr bwMode="auto">
          <a:xfrm>
            <a:off x="8870270" y="3543729"/>
            <a:ext cx="2781980" cy="515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无法区分障碍物和墙，电线缠绕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sym typeface="方正兰亭黑_GBK" panose="02000000000000000000" pitchFamily="2" charset="-122"/>
            </a:endParaRPr>
          </a:p>
        </p:txBody>
      </p:sp>
      <p:sp>
        <p:nvSpPr>
          <p:cNvPr id="74" name="矩形 47"/>
          <p:cNvSpPr>
            <a:spLocks noChangeArrowheads="1"/>
          </p:cNvSpPr>
          <p:nvPr/>
        </p:nvSpPr>
        <p:spPr bwMode="auto">
          <a:xfrm>
            <a:off x="8870270" y="3821145"/>
            <a:ext cx="2444276" cy="2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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激光雷达传感器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&amp;3D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深度传感器。</a:t>
            </a:r>
          </a:p>
        </p:txBody>
      </p:sp>
      <p:sp>
        <p:nvSpPr>
          <p:cNvPr id="75" name="矩形 71"/>
          <p:cNvSpPr>
            <a:spLocks noChangeArrowheads="1"/>
          </p:cNvSpPr>
          <p:nvPr/>
        </p:nvSpPr>
        <p:spPr bwMode="auto">
          <a:xfrm>
            <a:off x="8870270" y="4515279"/>
            <a:ext cx="1779984" cy="300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3" tIns="34287" rIns="68573" bIns="34287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sym typeface="方正兰亭黑_GBK" panose="02000000000000000000" pitchFamily="2" charset="-122"/>
            </a:endParaRPr>
          </a:p>
        </p:txBody>
      </p:sp>
      <p:sp>
        <p:nvSpPr>
          <p:cNvPr id="76" name="矩形 47"/>
          <p:cNvSpPr>
            <a:spLocks noChangeArrowheads="1"/>
          </p:cNvSpPr>
          <p:nvPr/>
        </p:nvSpPr>
        <p:spPr bwMode="auto">
          <a:xfrm>
            <a:off x="8870270" y="4781979"/>
            <a:ext cx="2491997" cy="2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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3D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深度传感器与传感器融合技术</a:t>
            </a:r>
          </a:p>
        </p:txBody>
      </p:sp>
      <p:sp>
        <p:nvSpPr>
          <p:cNvPr id="78" name="Oval 8"/>
          <p:cNvSpPr>
            <a:spLocks noChangeArrowheads="1"/>
          </p:cNvSpPr>
          <p:nvPr/>
        </p:nvSpPr>
        <p:spPr bwMode="auto">
          <a:xfrm>
            <a:off x="8228522" y="3546110"/>
            <a:ext cx="595313" cy="597694"/>
          </a:xfrm>
          <a:prstGeom prst="ellipse">
            <a:avLst/>
          </a:prstGeom>
          <a:solidFill>
            <a:srgbClr val="7F2E30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/>
          <a:lstStyle/>
          <a:p>
            <a:endParaRPr lang="zh-CN" altLang="zh-CN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3" name="图片 2" descr="图标&#10;&#10;AI 生成的内容可能不正确。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540" y="2582054"/>
            <a:ext cx="2372896" cy="2692003"/>
          </a:xfrm>
          <a:prstGeom prst="rect">
            <a:avLst/>
          </a:prstGeom>
        </p:spPr>
      </p:pic>
      <p:sp>
        <p:nvSpPr>
          <p:cNvPr id="4" name="Rectangle 38"/>
          <p:cNvSpPr/>
          <p:nvPr/>
        </p:nvSpPr>
        <p:spPr>
          <a:xfrm>
            <a:off x="7407468" y="2608888"/>
            <a:ext cx="225254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176655"/>
            <a:r>
              <a:rPr lang="en-US" altLang="zh-CN" sz="2400" dirty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Q1</a:t>
            </a:r>
            <a:endParaRPr lang="en-GB" altLang="zh-CN" sz="2400" dirty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ectangle 38"/>
          <p:cNvSpPr/>
          <p:nvPr/>
        </p:nvSpPr>
        <p:spPr>
          <a:xfrm>
            <a:off x="7407468" y="3594264"/>
            <a:ext cx="225254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176655"/>
            <a:r>
              <a:rPr lang="en-US" altLang="zh-CN" sz="2400" dirty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Q2</a:t>
            </a:r>
            <a:endParaRPr lang="en-GB" altLang="zh-CN" sz="2400" dirty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tangle 38"/>
          <p:cNvSpPr/>
          <p:nvPr/>
        </p:nvSpPr>
        <p:spPr>
          <a:xfrm>
            <a:off x="7423687" y="4585420"/>
            <a:ext cx="225254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176655"/>
            <a:r>
              <a:rPr lang="en-US" altLang="zh-CN" sz="2400" dirty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Q3</a:t>
            </a:r>
            <a:endParaRPr lang="en-GB" altLang="zh-CN" sz="2400" dirty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en-US" sz="1400" dirty="0">
              <a:solidFill>
                <a:srgbClr val="3C3C3C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矩形 69"/>
          <p:cNvSpPr>
            <a:spLocks noChangeArrowheads="1"/>
          </p:cNvSpPr>
          <p:nvPr/>
        </p:nvSpPr>
        <p:spPr bwMode="auto">
          <a:xfrm>
            <a:off x="8870270" y="4531897"/>
            <a:ext cx="2672444" cy="515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不平整路况，如楼梯口处避让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  <a:sym typeface="方正兰亭黑_GBK" panose="02000000000000000000" pitchFamily="2" charset="-122"/>
            </a:endParaRPr>
          </a:p>
        </p:txBody>
      </p:sp>
      <p:sp>
        <p:nvSpPr>
          <p:cNvPr id="11" name="矩形 69"/>
          <p:cNvSpPr>
            <a:spLocks noChangeArrowheads="1"/>
          </p:cNvSpPr>
          <p:nvPr/>
        </p:nvSpPr>
        <p:spPr bwMode="auto">
          <a:xfrm>
            <a:off x="8860063" y="2545966"/>
            <a:ext cx="3004881" cy="50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zh-CN" sz="1400" dirty="0">
                <a:latin typeface="幼圆" panose="02010509060101010101" pitchFamily="49" charset="-122"/>
                <a:ea typeface="幼圆" panose="02010509060101010101" pitchFamily="49" charset="-122"/>
              </a:rPr>
              <a:t>清扫路线混乱，清扫不完全，不彻底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  <a:sym typeface="方正兰亭黑_GBK" panose="02000000000000000000" pitchFamily="2" charset="-122"/>
              </a:rPr>
              <a:t> 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bldLvl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712585" y="2909010"/>
            <a:ext cx="2954655" cy="92333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136354" y="3832340"/>
            <a:ext cx="2107115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3C3C3C"/>
                </a:solidFill>
              </a:rPr>
              <a:t>Thanks for listening.</a:t>
            </a:r>
            <a:endParaRPr lang="zh-CN" altLang="en-US" sz="2000" dirty="0">
              <a:solidFill>
                <a:srgbClr val="3C3C3C"/>
              </a:solidFill>
              <a:latin typeface="Kozuka Gothic Pro EL" panose="020B0200000000000000" pitchFamily="34" charset="-128"/>
              <a:ea typeface="Kozuka Gothic Pro EL" panose="020B0200000000000000" pitchFamily="34" charset="-128"/>
              <a:cs typeface="Segoe UI Semilight" panose="020B0402040204020203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Volt - Colorful Birigh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8|4.7|0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"/>
</p:tagLst>
</file>

<file path=ppt/theme/theme1.xml><?xml version="1.0" encoding="utf-8"?>
<a:theme xmlns:a="http://schemas.openxmlformats.org/drawingml/2006/main" name="Office Theme">
  <a:themeElements>
    <a:clrScheme name="Single Blue">
      <a:dk1>
        <a:sysClr val="windowText" lastClr="000000"/>
      </a:dk1>
      <a:lt1>
        <a:sysClr val="window" lastClr="FFFFFF"/>
      </a:lt1>
      <a:dk2>
        <a:srgbClr val="231D1F"/>
      </a:dk2>
      <a:lt2>
        <a:srgbClr val="ECF0F1"/>
      </a:lt2>
      <a:accent1>
        <a:srgbClr val="4B7FA7"/>
      </a:accent1>
      <a:accent2>
        <a:srgbClr val="4B7FA7"/>
      </a:accent2>
      <a:accent3>
        <a:srgbClr val="4B7FA7"/>
      </a:accent3>
      <a:accent4>
        <a:srgbClr val="4B7FA7"/>
      </a:accent4>
      <a:accent5>
        <a:srgbClr val="4B7FA7"/>
      </a:accent5>
      <a:accent6>
        <a:srgbClr val="4B7FA7"/>
      </a:accent6>
      <a:hlink>
        <a:srgbClr val="4B7FA7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1291</Words>
  <Application>Microsoft Office PowerPoint</Application>
  <PresentationFormat>宽屏</PresentationFormat>
  <Paragraphs>151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FontAwesome</vt:lpstr>
      <vt:lpstr>Kozuka Gothic Pro EL</vt:lpstr>
      <vt:lpstr>方正兰亭超细黑简体</vt:lpstr>
      <vt:lpstr>黑体</vt:lpstr>
      <vt:lpstr>宋体</vt:lpstr>
      <vt:lpstr>微软雅黑</vt:lpstr>
      <vt:lpstr>新宋体</vt:lpstr>
      <vt:lpstr>幼圆</vt:lpstr>
      <vt:lpstr>Arial</vt:lpstr>
      <vt:lpstr>Calibri</vt:lpstr>
      <vt:lpstr>Roboto</vt:lpstr>
      <vt:lpstr>Source Sans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扫地机器人清扫策略分析</dc:title>
  <dc:creator>刘思彤，李婧娴</dc:creator>
  <dc:description>http://www.ypppt.com/</dc:description>
  <cp:lastModifiedBy>JINGXIAN LI</cp:lastModifiedBy>
  <cp:revision>7</cp:revision>
  <dcterms:created xsi:type="dcterms:W3CDTF">2025-10-31T14:43:00Z</dcterms:created>
  <dcterms:modified xsi:type="dcterms:W3CDTF">2025-11-07T01:07:38Z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A3A6B4661FFEDA1648BD0469CA9F25F6_42</vt:lpwstr>
  </property>
  <property fmtid="{D5CDD505-2E9C-101B-9397-08002B2CF9AE}" pid="3" name="KSOProductBuildVer">
    <vt:lpwstr>2052-12.9.0.23551</vt:lpwstr>
  </property>
</Properties>
</file>